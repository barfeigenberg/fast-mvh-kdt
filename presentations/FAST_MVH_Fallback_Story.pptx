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RESEARCH &amp; ALGORITHM EXECUTION REPORT</a:t>
            </a:r>
          </a:p>
          <a:p>
            <a:pPr>
              <a:spcBef>
                <a:spcPts val="1000"/>
              </a:spcBef>
              <a:defRPr sz="3600" b="1">
                <a:solidFill>
                  <a:srgbClr val="F8FAFC"/>
                </a:solidFill>
              </a:defRPr>
            </a:pPr>
            <a:r>
              <a:t>The Fallback Mechanism in MVH</a:t>
            </a:r>
          </a:p>
          <a:p>
            <a:pPr>
              <a:spcBef>
                <a:spcPts val="600"/>
              </a:spcBef>
              <a:defRPr sz="2000">
                <a:solidFill>
                  <a:srgbClr val="FACC15"/>
                </a:solidFill>
              </a:defRPr>
            </a:pPr>
            <a:r>
              <a:t>From Dimensionality Reduction to Order Violation &amp; The FAST3 Breakthrough</a:t>
            </a:r>
          </a:p>
          <a:p>
            <a:pPr>
              <a:spcBef>
                <a:spcPts val="2000"/>
              </a:spcBef>
              <a:defRPr sz="1250">
                <a:solidFill>
                  <a:srgbClr val="94A3B8"/>
                </a:solidFill>
              </a:defRPr>
            </a:pPr>
            <a:r>
              <a:t>A complete, step-by-step visual trace showing why multi-value heuristics break monotonicity in primary objective g1, why truncated dominance checks fool the search, and how ArenaGcl replaces the 1.35-billion comparison flat bottleneck with O(log N) KD-tree pruning.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THE FALLBACK STORY • STEP 1 OF 7</a:t>
            </a:r>
          </a:p>
          <a:p>
            <a:pPr>
              <a:spcBef>
                <a:spcPts val="300"/>
              </a:spcBef>
              <a:defRPr sz="2100" b="1">
                <a:solidFill>
                  <a:srgbClr val="F8FAFC"/>
                </a:solidFill>
                <a:latin typeface="Segoe UI"/>
              </a:defRPr>
            </a:pPr>
            <a:r>
              <a:t>Step 1: Initial Setup &amp; Candidate Heuristics at Node s</a:t>
            </a:r>
          </a:p>
        </p:txBody>
      </p:sp>
      <p:pic>
        <p:nvPicPr>
          <p:cNvPr id="4" name="Picture 3" descr="diag_ste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120640" cy="429473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126480" y="1371600"/>
            <a:ext cx="5303520" cy="2286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/>
          <a:lstStyle/>
          <a:p>
            <a:pPr algn="ctr">
              <a:defRPr sz="1100" b="1">
                <a:solidFill>
                  <a:srgbClr val="FACC15"/>
                </a:solidFill>
                <a:latin typeface="Segoe UI"/>
              </a:defRPr>
            </a:pPr>
            <a:r>
              <a:t>WHAT HAPPENS AT THIS STEP:</a:t>
            </a:r>
          </a:p>
          <a:p>
            <a:pPr>
              <a:spcBef>
                <a:spcPts val="300"/>
              </a:spcBef>
              <a:defRPr sz="1000">
                <a:solidFill>
                  <a:srgbClr val="F8FAFC"/>
                </a:solidFill>
                <a:latin typeface="Segoe UI"/>
              </a:defRPr>
            </a:pPr>
            <a:r>
              <a:t>• Multi-objective search space in 2D: g1 (primary cost) and g2 (secondary cost).</a:t>
            </a:r>
          </a:p>
          <a:p>
            <a:pPr>
              <a:spcBef>
                <a:spcPts val="300"/>
              </a:spcBef>
              <a:defRPr sz="1000">
                <a:solidFill>
                  <a:srgbClr val="F8FAFC"/>
                </a:solidFill>
                <a:latin typeface="Segoe UI"/>
              </a:defRPr>
            </a:pPr>
            <a:r>
              <a:t>• Dimensionality reduction (Tr) drops dim 1: Tr(g) = g2. Assumes g1 arrives monotonically non-decreasing.</a:t>
            </a:r>
          </a:p>
          <a:p>
            <a:pPr>
              <a:spcBef>
                <a:spcPts val="300"/>
              </a:spcBef>
              <a:defRPr sz="1000">
                <a:solidFill>
                  <a:srgbClr val="F8FAFC"/>
                </a:solidFill>
                <a:latin typeface="Segoe UI"/>
              </a:defRPr>
            </a:pPr>
            <a:r>
              <a:t>• A complete goal solution has already been found with cost T = 6 in dim 2.</a:t>
            </a:r>
          </a:p>
          <a:p>
            <a:pPr>
              <a:spcBef>
                <a:spcPts val="300"/>
              </a:spcBef>
              <a:defRPr sz="1000">
                <a:solidFill>
                  <a:srgbClr val="F8FAFC"/>
                </a:solidFill>
                <a:latin typeface="Segoe UI"/>
              </a:defRPr>
            </a:pPr>
            <a:r>
              <a:t>• Candidate heuristics at state s: h(1) = (1, 3) [optimistic h1] and h(2) = (5, 1) [conservative h1].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0" y="3794760"/>
            <a:ext cx="5303520" cy="1188720"/>
          </a:xfrm>
          <a:prstGeom prst="rect">
            <a:avLst/>
          </a:prstGeom>
          <a:solidFill>
            <a:srgbClr val="0B1120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defRPr sz="950" b="1">
                <a:solidFill>
                  <a:srgbClr val="38BDF8"/>
                </a:solidFill>
                <a:latin typeface="Segoe UI"/>
              </a:defRPr>
            </a:pPr>
            <a:r>
              <a:t>MEMORY REGISTERS WATCH:</a:t>
            </a:r>
          </a:p>
          <a:p>
            <a:pPr>
              <a:spcBef>
                <a:spcPts val="2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OPEN Heap:     [ Empty ]</a:t>
            </a:r>
          </a:p>
          <a:p>
            <a:pPr>
              <a:spcBef>
                <a:spcPts val="2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G_cl(s):       [ Empty ]</a:t>
            </a:r>
          </a:p>
          <a:p>
            <a:pPr>
              <a:spcBef>
                <a:spcPts val="2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max_g1(s):     -∞</a:t>
            </a:r>
          </a:p>
          <a:p>
            <a:pPr>
              <a:spcBef>
                <a:spcPts val="2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Goal Bound T:  T = 6 (in dim 2)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5120640"/>
            <a:ext cx="5303520" cy="1280160"/>
          </a:xfrm>
          <a:prstGeom prst="rect">
            <a:avLst/>
          </a:prstGeom>
          <a:solidFill>
            <a:srgbClr val="070B14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defRPr sz="950" b="1">
                <a:solidFill>
                  <a:srgbClr val="4ADE80"/>
                </a:solidFill>
                <a:latin typeface="Segoe UI"/>
              </a:defRPr>
            </a:pPr>
            <a:r>
              <a:t>CODE EXECUTION (L-NAMOA*dr-mvh):</a:t>
            </a:r>
          </a:p>
          <a:p>
            <a:pPr>
              <a:spcBef>
                <a:spcPts val="200"/>
              </a:spcBef>
              <a:defRPr sz="850">
                <a:solidFill>
                  <a:srgbClr val="94A3B8"/>
                </a:solidFill>
                <a:latin typeface="Consolas"/>
              </a:defRPr>
            </a:pPr>
            <a:r>
              <a:t>Line 24: n' = new_node(s)</a:t>
            </a:r>
          </a:p>
          <a:p>
            <a:pPr>
              <a:spcBef>
                <a:spcPts val="200"/>
              </a:spcBef>
              <a:defRPr sz="850">
                <a:solidFill>
                  <a:srgbClr val="94A3B8"/>
                </a:solidFill>
                <a:latin typeface="Consolas"/>
              </a:defRPr>
            </a:pPr>
            <a:r>
              <a:t>Line 26: h' = CHOOSEH(s, g, 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THE FALLBACK STORY • STEP 2 OF 7</a:t>
            </a:r>
          </a:p>
          <a:p>
            <a:pPr>
              <a:spcBef>
                <a:spcPts val="300"/>
              </a:spcBef>
              <a:defRPr sz="2100" b="1">
                <a:solidFill>
                  <a:srgbClr val="F8FAFC"/>
                </a:solidFill>
                <a:latin typeface="Segoe UI"/>
              </a:defRPr>
            </a:pPr>
            <a:r>
              <a:t>Step 2: Path 1 Arrives: Evaluated in CHOOSEH and Pushed to OPEN</a:t>
            </a:r>
          </a:p>
        </p:txBody>
      </p:sp>
      <p:pic>
        <p:nvPicPr>
          <p:cNvPr id="4" name="Picture 3" descr="diag_step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120640" cy="429473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126480" y="1371600"/>
            <a:ext cx="5303520" cy="2286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/>
          <a:lstStyle/>
          <a:p>
            <a:pPr algn="ctr">
              <a:defRPr sz="1100" b="1">
                <a:solidFill>
                  <a:srgbClr val="FACC15"/>
                </a:solidFill>
                <a:latin typeface="Segoe UI"/>
              </a:defRPr>
            </a:pPr>
            <a:r>
              <a:t>WHAT HAPPENS AT THIS STEP:</a:t>
            </a:r>
          </a:p>
          <a:p>
            <a:pPr>
              <a:spcBef>
                <a:spcPts val="300"/>
              </a:spcBef>
              <a:defRPr sz="1000">
                <a:solidFill>
                  <a:srgbClr val="F8FAFC"/>
                </a:solidFill>
                <a:latin typeface="Segoe UI"/>
              </a:defRPr>
            </a:pPr>
            <a:r>
              <a:t>• Path 1 reaches state s with accumulated cost g(1) = (10, 2).</a:t>
            </a:r>
          </a:p>
          <a:p>
            <a:pPr>
              <a:spcBef>
                <a:spcPts val="300"/>
              </a:spcBef>
              <a:defRPr sz="1000">
                <a:solidFill>
                  <a:srgbClr val="F8FAFC"/>
                </a:solidFill>
                <a:latin typeface="Segoe UI"/>
              </a:defRPr>
            </a:pPr>
            <a:r>
              <a:t>• CHOOSEH tests first heuristic h(1) = (1, 3): total estimate f = (10+1, 2+3) = (11, 5).</a:t>
            </a:r>
          </a:p>
          <a:p>
            <a:pPr>
              <a:spcBef>
                <a:spcPts val="300"/>
              </a:spcBef>
              <a:defRPr sz="1000">
                <a:solidFill>
                  <a:srgbClr val="F8FAFC"/>
                </a:solidFill>
                <a:latin typeface="Segoe UI"/>
              </a:defRPr>
            </a:pPr>
            <a:r>
              <a:t>• Dominance test vs Goal T: Is 6 &lt;= 5? FALSE! Not dominated by known goal.</a:t>
            </a:r>
          </a:p>
          <a:p>
            <a:pPr>
              <a:spcBef>
                <a:spcPts val="300"/>
              </a:spcBef>
              <a:defRPr sz="1000">
                <a:solidFill>
                  <a:srgbClr val="F8FAFC"/>
                </a:solidFill>
                <a:latin typeface="Segoe UI"/>
              </a:defRPr>
            </a:pPr>
            <a:r>
              <a:t>• Heuristic h(1) is ACCEPTED! Path 1 is inserted into OPEN heap with priority key f1 = 11.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0" y="3794760"/>
            <a:ext cx="5303520" cy="1188720"/>
          </a:xfrm>
          <a:prstGeom prst="rect">
            <a:avLst/>
          </a:prstGeom>
          <a:solidFill>
            <a:srgbClr val="0B1120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defRPr sz="950" b="1">
                <a:solidFill>
                  <a:srgbClr val="38BDF8"/>
                </a:solidFill>
                <a:latin typeface="Segoe UI"/>
              </a:defRPr>
            </a:pPr>
            <a:r>
              <a:t>MEMORY REGISTERS WATCH:</a:t>
            </a:r>
          </a:p>
          <a:p>
            <a:pPr>
              <a:spcBef>
                <a:spcPts val="2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OPEN Heap:     [ { Path 1, g:(10,2), f:(11,5), key:11 } ]</a:t>
            </a:r>
          </a:p>
          <a:p>
            <a:pPr>
              <a:spcBef>
                <a:spcPts val="2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G_cl(s):       [ Empty ]</a:t>
            </a:r>
          </a:p>
          <a:p>
            <a:pPr>
              <a:spcBef>
                <a:spcPts val="2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max_g1(s):     -∞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5120640"/>
            <a:ext cx="5303520" cy="1280160"/>
          </a:xfrm>
          <a:prstGeom prst="rect">
            <a:avLst/>
          </a:prstGeom>
          <a:solidFill>
            <a:srgbClr val="070B14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defRPr sz="950" b="1">
                <a:solidFill>
                  <a:srgbClr val="4ADE80"/>
                </a:solidFill>
                <a:latin typeface="Segoe UI"/>
              </a:defRPr>
            </a:pPr>
            <a:r>
              <a:t>CODE EXECUTION (L-NAMOA*dr-mvh):</a:t>
            </a:r>
          </a:p>
          <a:p>
            <a:pPr>
              <a:spcBef>
                <a:spcPts val="200"/>
              </a:spcBef>
              <a:defRPr sz="850">
                <a:solidFill>
                  <a:srgbClr val="94A3B8"/>
                </a:solidFill>
                <a:latin typeface="Consolas"/>
              </a:defRPr>
            </a:pPr>
            <a:r>
              <a:t>Line 35: for h in H(s) -&gt; test h(1) = (1, 3)</a:t>
            </a:r>
          </a:p>
          <a:p>
            <a:pPr>
              <a:spcBef>
                <a:spcPts val="200"/>
              </a:spcBef>
              <a:defRPr sz="850">
                <a:solidFill>
                  <a:srgbClr val="94A3B8"/>
                </a:solidFill>
                <a:latin typeface="Consolas"/>
              </a:defRPr>
            </a:pPr>
            <a:r>
              <a:t>Line 36: f = g + h = (11, 5)</a:t>
            </a:r>
          </a:p>
          <a:p>
            <a:pPr>
              <a:spcBef>
                <a:spcPts val="200"/>
              </a:spcBef>
              <a:defRPr sz="850">
                <a:solidFill>
                  <a:srgbClr val="94A3B8"/>
                </a:solidFill>
                <a:latin typeface="Consolas"/>
              </a:defRPr>
            </a:pPr>
            <a:r>
              <a:t>Line 37: if T &lt;= Tr(f) -&gt; 6 &lt;= 5 is FALSE -&gt; Accepted!</a:t>
            </a:r>
          </a:p>
          <a:p>
            <a:pPr>
              <a:spcBef>
                <a:spcPts val="200"/>
              </a:spcBef>
              <a:defRPr sz="850">
                <a:solidFill>
                  <a:srgbClr val="94A3B8"/>
                </a:solidFill>
                <a:latin typeface="Consolas"/>
              </a:defRPr>
            </a:pPr>
            <a:r>
              <a:t>Line 32: OPEN.Insert(Path 1, key=f1=11)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THE FALLBACK STORY • STEP 3 OF 7</a:t>
            </a:r>
          </a:p>
          <a:p>
            <a:pPr>
              <a:spcBef>
                <a:spcPts val="300"/>
              </a:spcBef>
              <a:defRPr sz="2100" b="1">
                <a:solidFill>
                  <a:srgbClr val="F8FAFC"/>
                </a:solidFill>
                <a:latin typeface="Segoe UI"/>
              </a:defRPr>
            </a:pPr>
            <a:r>
              <a:t>Step 3: Path 2 Arrives: Heuristic h(1) Pruned, Forced to h(2)!</a:t>
            </a:r>
          </a:p>
        </p:txBody>
      </p:sp>
      <p:pic>
        <p:nvPicPr>
          <p:cNvPr id="4" name="Picture 3" descr="diag_step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120640" cy="429473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126480" y="1371600"/>
            <a:ext cx="5303520" cy="2286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/>
          <a:lstStyle/>
          <a:p>
            <a:pPr algn="ctr">
              <a:defRPr sz="1100" b="1">
                <a:solidFill>
                  <a:srgbClr val="FACC15"/>
                </a:solidFill>
                <a:latin typeface="Segoe UI"/>
              </a:defRPr>
            </a:pPr>
            <a:r>
              <a:t>WHAT HAPPENS AT THIS STEP:</a:t>
            </a:r>
          </a:p>
          <a:p>
            <a:pPr>
              <a:spcBef>
                <a:spcPts val="300"/>
              </a:spcBef>
              <a:defRPr sz="1000">
                <a:solidFill>
                  <a:srgbClr val="F8FAFC"/>
                </a:solidFill>
                <a:latin typeface="Segoe UI"/>
              </a:defRPr>
            </a:pPr>
            <a:r>
              <a:t>• Path 2 arrives at state s with cost g(2) = (8, 4). Notice: better in g1 (8 &lt; 10), worse in g2 (4 &gt; 2).</a:t>
            </a:r>
          </a:p>
          <a:p>
            <a:pPr>
              <a:spcBef>
                <a:spcPts val="300"/>
              </a:spcBef>
              <a:defRPr sz="1000">
                <a:solidFill>
                  <a:srgbClr val="F8FAFC"/>
                </a:solidFill>
                <a:latin typeface="Segoe UI"/>
              </a:defRPr>
            </a:pPr>
            <a:r>
              <a:t>• CHOOSEH tests h(1) = (1, 3) first: f = (8+1, 4+3) = (9, 7). Tr(f) = 7.</a:t>
            </a:r>
          </a:p>
          <a:p>
            <a:pPr>
              <a:spcBef>
                <a:spcPts val="300"/>
              </a:spcBef>
              <a:defRPr sz="1000">
                <a:solidFill>
                  <a:srgbClr val="F8FAFC"/>
                </a:solidFill>
                <a:latin typeface="Segoe UI"/>
              </a:defRPr>
            </a:pPr>
            <a:r>
              <a:t>• Dominance test vs Goal: Is 6 &lt;= 7? TRUE! Dominated by the known goal solution!</a:t>
            </a:r>
          </a:p>
          <a:p>
            <a:pPr>
              <a:spcBef>
                <a:spcPts val="300"/>
              </a:spcBef>
              <a:defRPr sz="1000">
                <a:solidFill>
                  <a:srgbClr val="F8FAFC"/>
                </a:solidFill>
                <a:latin typeface="Segoe UI"/>
              </a:defRPr>
            </a:pPr>
            <a:r>
              <a:t>• CRITICAL: h(1) is PRUNED and discarded for Path 2! It cannot be completed via h(1).</a:t>
            </a:r>
          </a:p>
          <a:p>
            <a:pPr>
              <a:spcBef>
                <a:spcPts val="300"/>
              </a:spcBef>
              <a:defRPr sz="1000">
                <a:solidFill>
                  <a:srgbClr val="F8FAFC"/>
                </a:solidFill>
                <a:latin typeface="Segoe UI"/>
              </a:defRPr>
            </a:pPr>
            <a:r>
              <a:t>• Forced to test h(2) = (5, 1): f = (8+5, 4+1) = (13, 5). 6 &lt;= 5 is False -&gt; Survives!</a:t>
            </a:r>
          </a:p>
          <a:p>
            <a:pPr>
              <a:spcBef>
                <a:spcPts val="300"/>
              </a:spcBef>
              <a:defRPr sz="1000">
                <a:solidFill>
                  <a:srgbClr val="F8FAFC"/>
                </a:solidFill>
                <a:latin typeface="Segoe UI"/>
              </a:defRPr>
            </a:pPr>
            <a:r>
              <a:t>• Path 2 enters OPEN with priority key f1 = 13.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0" y="3794760"/>
            <a:ext cx="5303520" cy="1188720"/>
          </a:xfrm>
          <a:prstGeom prst="rect">
            <a:avLst/>
          </a:prstGeom>
          <a:solidFill>
            <a:srgbClr val="0B1120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defRPr sz="950" b="1">
                <a:solidFill>
                  <a:srgbClr val="38BDF8"/>
                </a:solidFill>
                <a:latin typeface="Segoe UI"/>
              </a:defRPr>
            </a:pPr>
            <a:r>
              <a:t>MEMORY REGISTERS WATCH:</a:t>
            </a:r>
          </a:p>
          <a:p>
            <a:pPr>
              <a:spcBef>
                <a:spcPts val="2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OPEN Heap:     [ Path 1 (key:11), Path 2 (key:13) ]</a:t>
            </a:r>
          </a:p>
          <a:p>
            <a:pPr>
              <a:spcBef>
                <a:spcPts val="2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G_cl(s):       [ Empty ]</a:t>
            </a:r>
          </a:p>
          <a:p>
            <a:pPr>
              <a:spcBef>
                <a:spcPts val="2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max_g1(s):     -∞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5120640"/>
            <a:ext cx="5303520" cy="1280160"/>
          </a:xfrm>
          <a:prstGeom prst="rect">
            <a:avLst/>
          </a:prstGeom>
          <a:solidFill>
            <a:srgbClr val="070B14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defRPr sz="950" b="1">
                <a:solidFill>
                  <a:srgbClr val="4ADE80"/>
                </a:solidFill>
                <a:latin typeface="Segoe UI"/>
              </a:defRPr>
            </a:pPr>
            <a:r>
              <a:t>CODE EXECUTION (L-NAMOA*dr-mvh):</a:t>
            </a:r>
          </a:p>
          <a:p>
            <a:pPr>
              <a:spcBef>
                <a:spcPts val="200"/>
              </a:spcBef>
              <a:defRPr sz="850">
                <a:solidFill>
                  <a:srgbClr val="94A3B8"/>
                </a:solidFill>
                <a:latin typeface="Consolas"/>
              </a:defRPr>
            </a:pPr>
            <a:r>
              <a:t>Line 37: if T &lt;= Tr(f) -&gt; 6 &lt;= 7 is TRUE -&gt; CONTINUE (PRUNED!)</a:t>
            </a:r>
          </a:p>
          <a:p>
            <a:pPr>
              <a:spcBef>
                <a:spcPts val="200"/>
              </a:spcBef>
              <a:defRPr sz="850">
                <a:solidFill>
                  <a:srgbClr val="94A3B8"/>
                </a:solidFill>
                <a:latin typeface="Consolas"/>
              </a:defRPr>
            </a:pPr>
            <a:r>
              <a:t>Line 35: test h(2) = (5, 1) -&gt; f = (13, 5) -&gt; ACCEPTED</a:t>
            </a:r>
          </a:p>
          <a:p>
            <a:pPr>
              <a:spcBef>
                <a:spcPts val="200"/>
              </a:spcBef>
              <a:defRPr sz="850">
                <a:solidFill>
                  <a:srgbClr val="94A3B8"/>
                </a:solidFill>
                <a:latin typeface="Consolas"/>
              </a:defRPr>
            </a:pPr>
            <a:r>
              <a:t>Line 32: OPEN.Insert(Path 2, key=f1=13)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THE FALLBACK STORY • STEP 4 OF 7</a:t>
            </a:r>
          </a:p>
          <a:p>
            <a:pPr>
              <a:spcBef>
                <a:spcPts val="300"/>
              </a:spcBef>
              <a:defRPr sz="2100" b="1">
                <a:solidFill>
                  <a:srgbClr val="F8FAFC"/>
                </a:solidFill>
                <a:latin typeface="Segoe UI"/>
              </a:defRPr>
            </a:pPr>
            <a:r>
              <a:t>Step 4: Path 1 Popped First: Records max_g1 = 10</a:t>
            </a:r>
          </a:p>
        </p:txBody>
      </p:sp>
      <p:pic>
        <p:nvPicPr>
          <p:cNvPr id="4" name="Picture 3" descr="diag_step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120640" cy="429473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126480" y="1371600"/>
            <a:ext cx="5303520" cy="2286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/>
          <a:lstStyle/>
          <a:p>
            <a:pPr algn="ctr">
              <a:defRPr sz="1100" b="1">
                <a:solidFill>
                  <a:srgbClr val="FACC15"/>
                </a:solidFill>
                <a:latin typeface="Segoe UI"/>
              </a:defRPr>
            </a:pPr>
            <a:r>
              <a:t>WHAT HAPPENS AT THIS STEP:</a:t>
            </a:r>
          </a:p>
          <a:p>
            <a:pPr>
              <a:spcBef>
                <a:spcPts val="300"/>
              </a:spcBef>
              <a:defRPr sz="1000">
                <a:solidFill>
                  <a:srgbClr val="F8FAFC"/>
                </a:solidFill>
                <a:latin typeface="Segoe UI"/>
              </a:defRPr>
            </a:pPr>
            <a:r>
              <a:t>• OPEN priority queue pops nodes by minimum f1. Because 11 &lt; 13, Path 1 is popped first!</a:t>
            </a:r>
          </a:p>
          <a:p>
            <a:pPr>
              <a:spcBef>
                <a:spcPts val="300"/>
              </a:spcBef>
              <a:defRPr sz="1000">
                <a:solidFill>
                  <a:srgbClr val="F8FAFC"/>
                </a:solidFill>
                <a:latin typeface="Segoe UI"/>
              </a:defRPr>
            </a:pPr>
            <a:r>
              <a:t>• Path 1 enters Closed Set G_cl(s) = {(10, 2)} and Truncated Set G_cl^Tr(s) = {2}.</a:t>
            </a:r>
          </a:p>
          <a:p>
            <a:pPr>
              <a:spcBef>
                <a:spcPts val="300"/>
              </a:spcBef>
              <a:defRPr sz="1000">
                <a:solidFill>
                  <a:srgbClr val="F8FAFC"/>
                </a:solidFill>
                <a:latin typeface="Segoe UI"/>
              </a:defRPr>
            </a:pPr>
            <a:r>
              <a:t>• Node register records highest observed primary cost: max_g1(s) = 10.</a:t>
            </a:r>
          </a:p>
          <a:p>
            <a:pPr>
              <a:spcBef>
                <a:spcPts val="300"/>
              </a:spcBef>
              <a:defRPr sz="1000">
                <a:solidFill>
                  <a:srgbClr val="F8FAFC"/>
                </a:solidFill>
                <a:latin typeface="Segoe UI"/>
              </a:defRPr>
            </a:pPr>
            <a:r>
              <a:t>• THE MVH PARADOX: Path 1 popped first due to low f1 (11), even though its true g1 cost is worse (10 &gt; 8)!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0" y="3794760"/>
            <a:ext cx="5303520" cy="1188720"/>
          </a:xfrm>
          <a:prstGeom prst="rect">
            <a:avLst/>
          </a:prstGeom>
          <a:solidFill>
            <a:srgbClr val="0B1120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defRPr sz="950" b="1">
                <a:solidFill>
                  <a:srgbClr val="38BDF8"/>
                </a:solidFill>
                <a:latin typeface="Segoe UI"/>
              </a:defRPr>
            </a:pPr>
            <a:r>
              <a:t>MEMORY REGISTERS WATCH:</a:t>
            </a:r>
          </a:p>
          <a:p>
            <a:pPr>
              <a:spcBef>
                <a:spcPts val="2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OPEN Heap:     [ Path 2 (key:13) ]</a:t>
            </a:r>
          </a:p>
          <a:p>
            <a:pPr>
              <a:spcBef>
                <a:spcPts val="2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G_cl(s):       { (10, 2) },  G_cl_Tr(s): { 2 }</a:t>
            </a:r>
          </a:p>
          <a:p>
            <a:pPr>
              <a:spcBef>
                <a:spcPts val="2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max_g1(s):     10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5120640"/>
            <a:ext cx="5303520" cy="1280160"/>
          </a:xfrm>
          <a:prstGeom prst="rect">
            <a:avLst/>
          </a:prstGeom>
          <a:solidFill>
            <a:srgbClr val="070B14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defRPr sz="950" b="1">
                <a:solidFill>
                  <a:srgbClr val="4ADE80"/>
                </a:solidFill>
                <a:latin typeface="Segoe UI"/>
              </a:defRPr>
            </a:pPr>
            <a:r>
              <a:t>CODE EXECUTION (L-NAMOA*dr-mvh):</a:t>
            </a:r>
          </a:p>
          <a:p>
            <a:pPr>
              <a:spcBef>
                <a:spcPts val="200"/>
              </a:spcBef>
              <a:defRPr sz="850">
                <a:solidFill>
                  <a:srgbClr val="94A3B8"/>
                </a:solidFill>
                <a:latin typeface="Consolas"/>
              </a:defRPr>
            </a:pPr>
            <a:r>
              <a:t>Line 8:  n = OPEN.Pop() -&gt; Path 1 (f1 = 11)</a:t>
            </a:r>
          </a:p>
          <a:p>
            <a:pPr>
              <a:spcBef>
                <a:spcPts val="200"/>
              </a:spcBef>
              <a:defRPr sz="850">
                <a:solidFill>
                  <a:srgbClr val="94A3B8"/>
                </a:solidFill>
                <a:latin typeface="Consolas"/>
              </a:defRPr>
            </a:pPr>
            <a:r>
              <a:t>Line 18: G_cl_Tr(s) = { 2 }</a:t>
            </a:r>
          </a:p>
          <a:p>
            <a:pPr>
              <a:spcBef>
                <a:spcPts val="200"/>
              </a:spcBef>
              <a:defRPr sz="850">
                <a:solidFill>
                  <a:srgbClr val="94A3B8"/>
                </a:solidFill>
                <a:latin typeface="Consolas"/>
              </a:defRPr>
            </a:pPr>
            <a:r>
              <a:t>Line 19: G_cl(s) = { (10, 2) } -&gt; max_g1 =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THE FALLBACK STORY • STEP 5 OF 7</a:t>
            </a:r>
          </a:p>
          <a:p>
            <a:pPr>
              <a:spcBef>
                <a:spcPts val="300"/>
              </a:spcBef>
              <a:defRPr sz="2100" b="1">
                <a:solidFill>
                  <a:srgbClr val="F8FAFC"/>
                </a:solidFill>
                <a:latin typeface="Segoe UI"/>
              </a:defRPr>
            </a:pPr>
            <a:r>
              <a:t>Step 5: Path 2 Popped: The False Dominance Trap of Truncation</a:t>
            </a:r>
          </a:p>
        </p:txBody>
      </p:sp>
      <p:pic>
        <p:nvPicPr>
          <p:cNvPr id="4" name="Picture 3" descr="diag_step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120640" cy="429473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126480" y="1371600"/>
            <a:ext cx="5303520" cy="2286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/>
          <a:lstStyle/>
          <a:p>
            <a:pPr algn="ctr">
              <a:defRPr sz="1100" b="1">
                <a:solidFill>
                  <a:srgbClr val="FACC15"/>
                </a:solidFill>
                <a:latin typeface="Segoe UI"/>
              </a:defRPr>
            </a:pPr>
            <a:r>
              <a:t>WHAT HAPPENS AT THIS STEP:</a:t>
            </a:r>
          </a:p>
          <a:p>
            <a:pPr>
              <a:spcBef>
                <a:spcPts val="300"/>
              </a:spcBef>
              <a:defRPr sz="1000">
                <a:solidFill>
                  <a:srgbClr val="F8FAFC"/>
                </a:solidFill>
                <a:latin typeface="Segoe UI"/>
              </a:defRPr>
            </a:pPr>
            <a:r>
              <a:t>• Path 2 is popped from OPEN (f1=13) and arrives at state s with g = (8, 4).</a:t>
            </a:r>
          </a:p>
          <a:p>
            <a:pPr>
              <a:spcBef>
                <a:spcPts val="300"/>
              </a:spcBef>
              <a:defRPr sz="1000">
                <a:solidFill>
                  <a:srgbClr val="F8FAFC"/>
                </a:solidFill>
                <a:latin typeface="Segoe UI"/>
              </a:defRPr>
            </a:pPr>
            <a:r>
              <a:t>• ORDER VIOLATION: Primary cost arriving at state s dropped from 10 to 8!</a:t>
            </a:r>
          </a:p>
          <a:p>
            <a:pPr>
              <a:spcBef>
                <a:spcPts val="300"/>
              </a:spcBef>
              <a:defRPr sz="1000">
                <a:solidFill>
                  <a:srgbClr val="F8FAFC"/>
                </a:solidFill>
                <a:latin typeface="Segoe UI"/>
              </a:defRPr>
            </a:pPr>
            <a:r>
              <a:t>• Truncated Check (Line 42): Is Tr(g1) &lt;= Tr(g2)? -&gt; 2 &lt;= 4 is TRUE!</a:t>
            </a:r>
          </a:p>
          <a:p>
            <a:pPr>
              <a:spcBef>
                <a:spcPts val="300"/>
              </a:spcBef>
              <a:defRPr sz="1000">
                <a:solidFill>
                  <a:srgbClr val="F8FAFC"/>
                </a:solidFill>
                <a:latin typeface="Segoe UI"/>
              </a:defRPr>
            </a:pPr>
            <a:r>
              <a:t>• THE TRAP: If we blindly trust truncation, Path 1 appears to dominate Path 2!</a:t>
            </a:r>
          </a:p>
          <a:p>
            <a:pPr>
              <a:spcBef>
                <a:spcPts val="300"/>
              </a:spcBef>
              <a:defRPr sz="1000">
                <a:solidFill>
                  <a:srgbClr val="F8FAFC"/>
                </a:solidFill>
                <a:latin typeface="Segoe UI"/>
              </a:defRPr>
            </a:pPr>
            <a:r>
              <a:t>• Blind pruning would discard a non-dominated Pareto solution and corrupt search soundness.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0" y="3794760"/>
            <a:ext cx="5303520" cy="1188720"/>
          </a:xfrm>
          <a:prstGeom prst="rect">
            <a:avLst/>
          </a:prstGeom>
          <a:solidFill>
            <a:srgbClr val="0B1120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defRPr sz="950" b="1">
                <a:solidFill>
                  <a:srgbClr val="38BDF8"/>
                </a:solidFill>
                <a:latin typeface="Segoe UI"/>
              </a:defRPr>
            </a:pPr>
            <a:r>
              <a:t>MEMORY REGISTERS WATCH:</a:t>
            </a:r>
          </a:p>
          <a:p>
            <a:pPr>
              <a:spcBef>
                <a:spcPts val="2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Current Node:  Path 2 with g = (8, 4)</a:t>
            </a:r>
          </a:p>
          <a:p>
            <a:pPr>
              <a:spcBef>
                <a:spcPts val="2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G_cl(s):       { (10, 2) }</a:t>
            </a:r>
          </a:p>
          <a:p>
            <a:pPr>
              <a:spcBef>
                <a:spcPts val="2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max_g1(s):     10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5120640"/>
            <a:ext cx="5303520" cy="1280160"/>
          </a:xfrm>
          <a:prstGeom prst="rect">
            <a:avLst/>
          </a:prstGeom>
          <a:solidFill>
            <a:srgbClr val="070B14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defRPr sz="950" b="1">
                <a:solidFill>
                  <a:srgbClr val="4ADE80"/>
                </a:solidFill>
                <a:latin typeface="Segoe UI"/>
              </a:defRPr>
            </a:pPr>
            <a:r>
              <a:t>CODE EXECUTION (L-NAMOA*dr-mvh):</a:t>
            </a:r>
          </a:p>
          <a:p>
            <a:pPr>
              <a:spcBef>
                <a:spcPts val="200"/>
              </a:spcBef>
              <a:defRPr sz="850">
                <a:solidFill>
                  <a:srgbClr val="94A3B8"/>
                </a:solidFill>
                <a:latin typeface="Consolas"/>
              </a:defRPr>
            </a:pPr>
            <a:r>
              <a:t>Line 8:  n = OPEN.Pop() -&gt; Path 2 (g=(8,4))</a:t>
            </a:r>
          </a:p>
          <a:p>
            <a:pPr>
              <a:spcBef>
                <a:spcPts val="200"/>
              </a:spcBef>
              <a:defRPr sz="850">
                <a:solidFill>
                  <a:srgbClr val="94A3B8"/>
                </a:solidFill>
                <a:latin typeface="Consolas"/>
              </a:defRPr>
            </a:pPr>
            <a:r>
              <a:t>Line 42: if Tr(g') &lt;= Tr(g) -&gt; 2 &lt;= 4 is TRUE! (False Dominance Trap)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THE FALLBACK STORY • STEP 6 OF 7</a:t>
            </a:r>
          </a:p>
          <a:p>
            <a:pPr>
              <a:spcBef>
                <a:spcPts val="300"/>
              </a:spcBef>
              <a:defRPr sz="2100" b="1">
                <a:solidFill>
                  <a:srgbClr val="F8FAFC"/>
                </a:solidFill>
                <a:latin typeface="Segoe UI"/>
              </a:defRPr>
            </a:pPr>
            <a:r>
              <a:t>Step 6: Safety Alarm: Monotonicity Guard Triggers Fallback!</a:t>
            </a:r>
          </a:p>
        </p:txBody>
      </p:sp>
      <p:pic>
        <p:nvPicPr>
          <p:cNvPr id="4" name="Picture 3" descr="diag_step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120640" cy="429473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126480" y="1371600"/>
            <a:ext cx="5303520" cy="2286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/>
          <a:lstStyle/>
          <a:p>
            <a:pPr algn="ctr">
              <a:defRPr sz="1100" b="1">
                <a:solidFill>
                  <a:srgbClr val="FACC15"/>
                </a:solidFill>
                <a:latin typeface="Segoe UI"/>
              </a:defRPr>
            </a:pPr>
            <a:r>
              <a:t>WHAT HAPPENS AT THIS STEP:</a:t>
            </a:r>
          </a:p>
          <a:p>
            <a:pPr>
              <a:spcBef>
                <a:spcPts val="300"/>
              </a:spcBef>
              <a:defRPr sz="1000">
                <a:solidFill>
                  <a:srgbClr val="F8FAFC"/>
                </a:solidFill>
                <a:latin typeface="Segoe UI"/>
              </a:defRPr>
            </a:pPr>
            <a:r>
              <a:t>• Maya's safety verification condition (Line 43): Is max_g1 &lt;= g1_new?</a:t>
            </a:r>
          </a:p>
          <a:p>
            <a:pPr>
              <a:spcBef>
                <a:spcPts val="300"/>
              </a:spcBef>
              <a:defRPr sz="1000">
                <a:solidFill>
                  <a:srgbClr val="F8FAFC"/>
                </a:solidFill>
                <a:latin typeface="Segoe UI"/>
              </a:defRPr>
            </a:pPr>
            <a:r>
              <a:t>• Substitute values: Is 10 &lt;= 8? FALSE! Order violation confirmed!</a:t>
            </a:r>
          </a:p>
          <a:p>
            <a:pPr>
              <a:spcBef>
                <a:spcPts val="300"/>
              </a:spcBef>
              <a:defRPr sz="1000">
                <a:solidFill>
                  <a:srgbClr val="F8FAFC"/>
                </a:solidFill>
                <a:latin typeface="Segoe UI"/>
              </a:defRPr>
            </a:pPr>
            <a:r>
              <a:t>• ALARM TRIGGERED: The assumption that g1 is monotonically non-decreasing has collapsed.</a:t>
            </a:r>
          </a:p>
          <a:p>
            <a:pPr>
              <a:spcBef>
                <a:spcPts val="300"/>
              </a:spcBef>
              <a:defRPr sz="1000">
                <a:solidFill>
                  <a:srgbClr val="F8FAFC"/>
                </a:solidFill>
                <a:latin typeface="Segoe UI"/>
              </a:defRPr>
            </a:pPr>
            <a:r>
              <a:t>• The truncated check is deemed invalid and discarded.</a:t>
            </a:r>
          </a:p>
          <a:p>
            <a:pPr>
              <a:spcBef>
                <a:spcPts val="300"/>
              </a:spcBef>
              <a:defRPr sz="1000">
                <a:solidFill>
                  <a:srgbClr val="F8FAFC"/>
                </a:solidFill>
                <a:latin typeface="Segoe UI"/>
              </a:defRPr>
            </a:pPr>
            <a:r>
              <a:t>• THE FALLBACK: Search MUST fall back to a full M-dimensional Pareto dominance check (Line 45)!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0" y="3794760"/>
            <a:ext cx="5303520" cy="1188720"/>
          </a:xfrm>
          <a:prstGeom prst="rect">
            <a:avLst/>
          </a:prstGeom>
          <a:solidFill>
            <a:srgbClr val="0B1120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defRPr sz="950" b="1">
                <a:solidFill>
                  <a:srgbClr val="38BDF8"/>
                </a:solidFill>
                <a:latin typeface="Segoe UI"/>
              </a:defRPr>
            </a:pPr>
            <a:r>
              <a:t>MEMORY REGISTERS WATCH:</a:t>
            </a:r>
          </a:p>
          <a:p>
            <a:pPr>
              <a:spcBef>
                <a:spcPts val="2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Tr Check:      INVALIDATED &amp; DISCARDED</a:t>
            </a:r>
          </a:p>
          <a:p>
            <a:pPr>
              <a:spcBef>
                <a:spcPts val="2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Status:        *** ORDER VIOLATION DETECTED ***</a:t>
            </a:r>
          </a:p>
          <a:p>
            <a:pPr>
              <a:spcBef>
                <a:spcPts val="2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Action:        FALLBACK TO FULL M-DIMENSIONAL PARETO CHECK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5120640"/>
            <a:ext cx="5303520" cy="1280160"/>
          </a:xfrm>
          <a:prstGeom prst="rect">
            <a:avLst/>
          </a:prstGeom>
          <a:solidFill>
            <a:srgbClr val="070B14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defRPr sz="950" b="1">
                <a:solidFill>
                  <a:srgbClr val="4ADE80"/>
                </a:solidFill>
                <a:latin typeface="Segoe UI"/>
              </a:defRPr>
            </a:pPr>
            <a:r>
              <a:t>CODE EXECUTION (L-NAMOA*dr-mvh):</a:t>
            </a:r>
          </a:p>
          <a:p>
            <a:pPr>
              <a:spcBef>
                <a:spcPts val="200"/>
              </a:spcBef>
              <a:defRPr sz="850">
                <a:solidFill>
                  <a:srgbClr val="94A3B8"/>
                </a:solidFill>
                <a:latin typeface="Consolas"/>
              </a:defRPr>
            </a:pPr>
            <a:r>
              <a:t>Line 43: if max(g'_1) &lt;= g_1 -&gt; 10 &lt;= 8 is FALSE!</a:t>
            </a:r>
          </a:p>
          <a:p>
            <a:pPr>
              <a:spcBef>
                <a:spcPts val="200"/>
              </a:spcBef>
              <a:defRPr sz="850">
                <a:solidFill>
                  <a:srgbClr val="94A3B8"/>
                </a:solidFill>
                <a:latin typeface="Consolas"/>
              </a:defRPr>
            </a:pPr>
            <a:r>
              <a:t>Line 45: if ∃ g' ∈ G_cl(s) : g' &lt;= g -&gt; FALLBACK ENGAGED!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THE FALLBACK STORY • STEP 7 OF 7</a:t>
            </a:r>
          </a:p>
          <a:p>
            <a:pPr>
              <a:spcBef>
                <a:spcPts val="300"/>
              </a:spcBef>
              <a:defRPr sz="2100" b="1">
                <a:solidFill>
                  <a:srgbClr val="F8FAFC"/>
                </a:solidFill>
                <a:latin typeface="Segoe UI"/>
              </a:defRPr>
            </a:pPr>
            <a:r>
              <a:t>Step 7: Full Dominance Check: Path 2 Saved &amp; Pareto Soundness Preserved!</a:t>
            </a:r>
          </a:p>
        </p:txBody>
      </p:sp>
      <p:pic>
        <p:nvPicPr>
          <p:cNvPr id="4" name="Picture 3" descr="diag_step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120640" cy="429473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126480" y="1371600"/>
            <a:ext cx="5303520" cy="2286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/>
          <a:lstStyle/>
          <a:p>
            <a:pPr algn="ctr">
              <a:defRPr sz="1100" b="1">
                <a:solidFill>
                  <a:srgbClr val="FACC15"/>
                </a:solidFill>
                <a:latin typeface="Segoe UI"/>
              </a:defRPr>
            </a:pPr>
            <a:r>
              <a:t>WHAT HAPPENS AT THIS STEP:</a:t>
            </a:r>
          </a:p>
          <a:p>
            <a:pPr>
              <a:spcBef>
                <a:spcPts val="300"/>
              </a:spcBef>
              <a:defRPr sz="1000">
                <a:solidFill>
                  <a:srgbClr val="F8FAFC"/>
                </a:solidFill>
                <a:latin typeface="Segoe UI"/>
              </a:defRPr>
            </a:pPr>
            <a:r>
              <a:t>• Fallback checks both dimensions between Path 1 (10, 2) and Path 2 (8, 4):</a:t>
            </a:r>
          </a:p>
          <a:p>
            <a:pPr>
              <a:spcBef>
                <a:spcPts val="300"/>
              </a:spcBef>
              <a:defRPr sz="1000">
                <a:solidFill>
                  <a:srgbClr val="F8FAFC"/>
                </a:solidFill>
                <a:latin typeface="Segoe UI"/>
              </a:defRPr>
            </a:pPr>
            <a:r>
              <a:t>• • Dimension 1: Is 10 &lt;= 8? FALSE! (Path 2 is better by 2 units)</a:t>
            </a:r>
          </a:p>
          <a:p>
            <a:pPr>
              <a:spcBef>
                <a:spcPts val="300"/>
              </a:spcBef>
              <a:defRPr sz="1000">
                <a:solidFill>
                  <a:srgbClr val="F8FAFC"/>
                </a:solidFill>
                <a:latin typeface="Segoe UI"/>
              </a:defRPr>
            </a:pPr>
            <a:r>
              <a:t>• • Dimension 2: Is 2 &lt;= 4? TRUE (Path 1 is better by 2 units)</a:t>
            </a:r>
          </a:p>
          <a:p>
            <a:pPr>
              <a:spcBef>
                <a:spcPts val="300"/>
              </a:spcBef>
              <a:defRPr sz="1000">
                <a:solidFill>
                  <a:srgbClr val="F8FAFC"/>
                </a:solidFill>
                <a:latin typeface="Segoe UI"/>
              </a:defRPr>
            </a:pPr>
            <a:r>
              <a:t>• VERDICT: NEITHER DOMINATES! Valid, non-dominated Pareto trade-off.</a:t>
            </a:r>
          </a:p>
          <a:p>
            <a:pPr>
              <a:spcBef>
                <a:spcPts val="300"/>
              </a:spcBef>
              <a:defRPr sz="1000">
                <a:solidFill>
                  <a:srgbClr val="F8FAFC"/>
                </a:solidFill>
                <a:latin typeface="Segoe UI"/>
              </a:defRPr>
            </a:pPr>
            <a:r>
              <a:t>• Path 2 is SAVED from illegal pruning and committed to G_cl(s) = {(10, 2), (8, 4)}.</a:t>
            </a:r>
          </a:p>
          <a:p>
            <a:pPr>
              <a:spcBef>
                <a:spcPts val="300"/>
              </a:spcBef>
              <a:defRPr sz="1000">
                <a:solidFill>
                  <a:srgbClr val="F8FAFC"/>
                </a:solidFill>
                <a:latin typeface="Segoe UI"/>
              </a:defRPr>
            </a:pPr>
            <a:r>
              <a:t>• Bit-identical Pareto optimality is 100% guaranteed.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0" y="3794760"/>
            <a:ext cx="5303520" cy="1188720"/>
          </a:xfrm>
          <a:prstGeom prst="rect">
            <a:avLst/>
          </a:prstGeom>
          <a:solidFill>
            <a:srgbClr val="0B1120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defRPr sz="950" b="1">
                <a:solidFill>
                  <a:srgbClr val="38BDF8"/>
                </a:solidFill>
                <a:latin typeface="Segoe UI"/>
              </a:defRPr>
            </a:pPr>
            <a:r>
              <a:t>MEMORY REGISTERS WATCH:</a:t>
            </a:r>
          </a:p>
          <a:p>
            <a:pPr>
              <a:spcBef>
                <a:spcPts val="2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G_cl(s):       { (10, 2), (8, 4) } [Both Active!]</a:t>
            </a:r>
          </a:p>
          <a:p>
            <a:pPr>
              <a:spcBef>
                <a:spcPts val="2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G_cl_Tr(s):    { 2, 4 }</a:t>
            </a:r>
          </a:p>
          <a:p>
            <a:pPr>
              <a:spcBef>
                <a:spcPts val="2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max_g1(s):     10</a:t>
            </a:r>
          </a:p>
          <a:p>
            <a:pPr>
              <a:spcBef>
                <a:spcPts val="2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Frontier:      100% Bit-Identical to Oracle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5120640"/>
            <a:ext cx="5303520" cy="1280160"/>
          </a:xfrm>
          <a:prstGeom prst="rect">
            <a:avLst/>
          </a:prstGeom>
          <a:solidFill>
            <a:srgbClr val="070B14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defRPr sz="950" b="1">
                <a:solidFill>
                  <a:srgbClr val="4ADE80"/>
                </a:solidFill>
                <a:latin typeface="Segoe UI"/>
              </a:defRPr>
            </a:pPr>
            <a:r>
              <a:t>CODE EXECUTION (L-NAMOA*dr-mvh):</a:t>
            </a:r>
          </a:p>
          <a:p>
            <a:pPr>
              <a:spcBef>
                <a:spcPts val="200"/>
              </a:spcBef>
              <a:defRPr sz="850">
                <a:solidFill>
                  <a:srgbClr val="94A3B8"/>
                </a:solidFill>
                <a:latin typeface="Consolas"/>
              </a:defRPr>
            </a:pPr>
            <a:r>
              <a:t>Line 45: check (10 &lt;= 8) &amp;&amp; (2 &lt;= 4) -&gt; FALSE (Neither dominates!)</a:t>
            </a:r>
          </a:p>
          <a:p>
            <a:pPr>
              <a:spcBef>
                <a:spcPts val="200"/>
              </a:spcBef>
              <a:defRPr sz="850">
                <a:solidFill>
                  <a:srgbClr val="94A3B8"/>
                </a:solidFill>
                <a:latin typeface="Consolas"/>
              </a:defRPr>
            </a:pPr>
            <a:r>
              <a:t>Line 47: return false -&gt; Path 2 is NON-DOMINATED!</a:t>
            </a:r>
          </a:p>
          <a:p>
            <a:pPr>
              <a:spcBef>
                <a:spcPts val="200"/>
              </a:spcBef>
              <a:defRPr sz="850">
                <a:solidFill>
                  <a:srgbClr val="94A3B8"/>
                </a:solidFill>
                <a:latin typeface="Consolas"/>
              </a:defRPr>
            </a:pPr>
            <a:r>
              <a:t>Line 19: G_cl(s) = G_cl(s) ∪ { (8, 4) } -&gt; BOTH SURVIVED!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ARCHITECTURAL BOTTLENECK ANALYSIS</a:t>
            </a:r>
          </a:p>
          <a:p>
            <a:pPr>
              <a:spcBef>
                <a:spcPts val="300"/>
              </a:spcBef>
              <a:defRPr sz="2100" b="1">
                <a:solidFill>
                  <a:srgbClr val="F8FAFC"/>
                </a:solidFill>
                <a:latin typeface="Segoe UI"/>
              </a:defRPr>
            </a:pPr>
            <a:r>
              <a:t>The Engineering Dilemma: Why FAST2 Choked on Fallback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5120640" cy="4937760"/>
          </a:xfrm>
          <a:prstGeom prst="rect">
            <a:avLst/>
          </a:prstGeom>
          <a:solidFill>
            <a:srgbClr val="1E293B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1400" b="1">
                <a:solidFill>
                  <a:srgbClr val="F87171"/>
                </a:solidFill>
              </a:defRPr>
            </a:pPr>
            <a:r>
              <a:t>❌ THE FAST2 BOTTLENECK</a:t>
            </a:r>
          </a:p>
          <a:p>
            <a:pPr>
              <a:spcBef>
                <a:spcPts val="800"/>
              </a:spcBef>
              <a:defRPr sz="1000">
                <a:solidFill>
                  <a:srgbClr val="F8FAFC"/>
                </a:solidFill>
              </a:defRPr>
            </a:pPr>
            <a:r>
              <a:t>• Flat std::vector for G_cl(s): In FAST2, past paths were stored in a flat sequential array.</a:t>
            </a:r>
          </a:p>
          <a:p>
            <a:pPr>
              <a:spcBef>
                <a:spcPts val="800"/>
              </a:spcBef>
              <a:defRPr sz="1000">
                <a:solidFill>
                  <a:srgbClr val="F8FAFC"/>
                </a:solidFill>
              </a:defRPr>
            </a:pPr>
            <a:r>
              <a:t>• 98.5% Non-Dominated Rate: In 98.5% of fallback occurrences, the candidate path is genuinely non-dominated (like Path 2 in our example).</a:t>
            </a:r>
          </a:p>
          <a:p>
            <a:pPr>
              <a:spcBef>
                <a:spcPts val="800"/>
              </a:spcBef>
              <a:defRPr sz="1000">
                <a:solidFill>
                  <a:srgbClr val="F8FAFC"/>
                </a:solidFill>
              </a:defRPr>
            </a:pPr>
            <a:r>
              <a:t>• Zero Early-Break Opportunity: To prove that NO past path dominates the candidate, the loop CANNOT break early. It must scan to the very last element.</a:t>
            </a:r>
          </a:p>
          <a:p>
            <a:pPr>
              <a:spcBef>
                <a:spcPts val="800"/>
              </a:spcBef>
              <a:defRPr sz="1000">
                <a:solidFill>
                  <a:srgbClr val="F8FAFC"/>
                </a:solidFill>
              </a:defRPr>
            </a:pPr>
            <a:r>
              <a:t>• O(N) Scanning per Query: When a grid cell accumulates 5,000 to 10,000 paths, every fallback triggers 10,000 full vector comparisons.</a:t>
            </a:r>
          </a:p>
          <a:p>
            <a:pPr>
              <a:spcBef>
                <a:spcPts val="800"/>
              </a:spcBef>
              <a:defRPr sz="1000">
                <a:solidFill>
                  <a:srgbClr val="F8FAFC"/>
                </a:solidFill>
              </a:defRPr>
            </a:pPr>
            <a:r>
              <a:t>• 1.35 Billion Comparisons: On instance grid_n7_m8, FAST2 performed 1,350,000,000 full comparisons, burning 85%+ of execution time purely in this loop.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60" y="1371600"/>
            <a:ext cx="5120640" cy="4937760"/>
          </a:xfrm>
          <a:prstGeom prst="rect">
            <a:avLst/>
          </a:prstGeom>
          <a:solidFill>
            <a:srgbClr val="1E293B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1400" b="1">
                <a:solidFill>
                  <a:srgbClr val="4ADE80"/>
                </a:solidFill>
              </a:defRPr>
            </a:pPr>
            <a:r>
              <a:t>🚀 THE FAST3 ARENAGCL SOLUTION</a:t>
            </a:r>
          </a:p>
          <a:p>
            <a:pPr>
              <a:spcBef>
                <a:spcPts val="800"/>
              </a:spcBef>
              <a:defRPr sz="1000">
                <a:solidFill>
                  <a:srgbClr val="F8FAFC"/>
                </a:solidFill>
              </a:defRPr>
            </a:pPr>
            <a:r>
              <a:t>• 128-Element L1 Buffer: Keep up to 128 vectors in a flat buffer, taking advantage of hardware prefetching, SIMD, and zero pointer overhead.</a:t>
            </a:r>
          </a:p>
          <a:p>
            <a:pPr>
              <a:spcBef>
                <a:spcPts val="800"/>
              </a:spcBef>
              <a:defRPr sz="1000">
                <a:solidFill>
                  <a:srgbClr val="F8FAFC"/>
                </a:solidFill>
              </a:defRPr>
            </a:pPr>
            <a:r>
              <a:t>• Balanced FullKDTree&lt;M&gt;: Once local frontier exceeds 128 elements, freeze them into a balanced M-dimensional KD-Tree.</a:t>
            </a:r>
          </a:p>
          <a:p>
            <a:pPr>
              <a:spcBef>
                <a:spcPts val="800"/>
              </a:spcBef>
              <a:defRPr sz="1000">
                <a:solidFill>
                  <a:srgbClr val="F8FAFC"/>
                </a:solidFill>
              </a:defRPr>
            </a:pPr>
            <a:r>
              <a:t>• O(1) Spatial Rejection: Orthogonal bounding boxes (lo[k] &gt; q[k]) reject entire subtrees of hundreds of paths in a single scalar test.</a:t>
            </a:r>
          </a:p>
          <a:p>
            <a:pPr>
              <a:spcBef>
                <a:spcPts val="800"/>
              </a:spcBef>
              <a:defRPr sz="1000">
                <a:solidFill>
                  <a:srgbClr val="F8FAFC"/>
                </a:solidFill>
              </a:defRPr>
            </a:pPr>
            <a:r>
              <a:t>• O(log N) Query Complexity: Dominance verification collapses from linear O(N) to spatial O(log N).</a:t>
            </a:r>
          </a:p>
          <a:p>
            <a:pPr>
              <a:spcBef>
                <a:spcPts val="800"/>
              </a:spcBef>
              <a:defRPr sz="1000">
                <a:solidFill>
                  <a:srgbClr val="F8FAFC"/>
                </a:solidFill>
              </a:defRPr>
            </a:pPr>
            <a:r>
              <a:t>• 217x Fewer Operations: Full comparisons on grid_n7_m8 dropped from 1.35 billion to 6.2 million.</a:t>
            </a:r>
          </a:p>
          <a:p>
            <a:pPr>
              <a:spcBef>
                <a:spcPts val="800"/>
              </a:spcBef>
              <a:defRPr sz="1000">
                <a:solidFill>
                  <a:srgbClr val="F8FAFC"/>
                </a:solidFill>
              </a:defRPr>
            </a:pPr>
            <a:r>
              <a:t>• 8.97x Speedup over FAST2: Wall-clock time on grid_8x8_m6 plunged from 382s to 42s (and 53.6x faster than Maya baseline).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