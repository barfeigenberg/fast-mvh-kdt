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7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000000"/>
                </a:solidFill>
                <a:latin typeface="Calibri"/>
              </a:rPr>
              <a:t>Maya’s Fallback Algorithm</a:t>
            </a:r>
          </a:p>
          <a:p>
            <a:pPr algn="ctr">
              <a:spcBef>
                <a:spcPts val="1400"/>
              </a:spcBef>
            </a:pPr>
            <a:r>
              <a:rPr sz="1800" b="0" i="0" dirty="0">
                <a:solidFill>
                  <a:srgbClr val="222222"/>
                </a:solidFill>
                <a:latin typeface="Calibri"/>
              </a:rPr>
              <a:t>Why We Truncate Dimensions And</a:t>
            </a:r>
            <a:r>
              <a:rPr lang="en-US" sz="1800" b="0" i="0" dirty="0">
                <a:solidFill>
                  <a:srgbClr val="222222"/>
                </a:solidFill>
                <a:latin typeface="Calibri"/>
              </a:rPr>
              <a:t> Still</a:t>
            </a:r>
            <a:r>
              <a:rPr sz="1800" b="0" i="0" dirty="0">
                <a:solidFill>
                  <a:srgbClr val="222222"/>
                </a:solidFill>
                <a:latin typeface="Calibri"/>
              </a:rPr>
              <a:t> Need a Full Check</a:t>
            </a:r>
          </a:p>
          <a:p>
            <a:pPr algn="ctr">
              <a:spcBef>
                <a:spcPts val="1200"/>
              </a:spcBef>
            </a:pPr>
            <a:r>
              <a:rPr sz="1400" b="0" i="1" dirty="0">
                <a:solidFill>
                  <a:srgbClr val="646464"/>
                </a:solidFill>
                <a:latin typeface="Calibri"/>
              </a:rPr>
              <a:t>A Complete, Step-by-Step Algorithmic Trace (from Ground Zero)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 dirty="0">
                <a:solidFill>
                  <a:srgbClr val="000000"/>
                </a:solidFill>
                <a:latin typeface="Calibri"/>
              </a:rPr>
              <a:t>What Does Goal Frontier T = {6} Mean?</a:t>
            </a:r>
          </a:p>
          <a:p>
            <a:pPr algn="ctr">
              <a:spcBef>
                <a:spcPts val="400"/>
              </a:spcBef>
            </a:pPr>
            <a:r>
              <a:rPr sz="1300" b="0" i="0" dirty="0">
                <a:solidFill>
                  <a:srgbClr val="646464"/>
                </a:solidFill>
                <a:latin typeface="Calibri"/>
              </a:rPr>
              <a:t>How known solutions prune future paths via CHOOSEH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Calibri"/>
              </a:rPr>
              <a:t>1. What is stored in T?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• T is the truncated closed set at the destination:  T = G_cl_Tr(s_goal).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• Truncation omits the primary coordinate g₁ and keeps the rest:  Tr(g) = g₂.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• Since a complete path already reached s_goal with cost g₂ = 6, we have:  T = {6}.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• Fundamental Invariant: Any solution already at s_goal represents an achievable total cost.</a:t>
            </a:r>
          </a:p>
          <a:p>
            <a:pPr>
              <a:spcBef>
                <a:spcPts val="1400"/>
              </a:spcBef>
            </a:pPr>
            <a:r>
              <a:rPr sz="1400" b="1" i="0">
                <a:solidFill>
                  <a:srgbClr val="000000"/>
                </a:solidFill>
                <a:latin typeface="Calibri"/>
              </a:rPr>
              <a:t>2. How does CHOOSEH prune using T?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• For any partial path arriving at state s with cost g, testing heuristic h gives:  f = g + h.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• The projected cost in dimension 2 is:  Tr(f) = g₂ + h₂.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• If  t ≤ Tr(f)  for any  t ∈ T  (here:  6 ≤ g₂ + h₂):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    → Completing this path via h will cost AT LEAST 6 in dimension 2!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    → But we already discovered a complete path to the goal with cost 6!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    → Therefore, this heuristic completion CANNOT produce an undominated solution.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222222"/>
                </a:solidFill>
                <a:latin typeface="Calibri"/>
              </a:rPr>
              <a:t>       → Heuristic h is safely REJECTED.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Goal Pruning Rule: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If 6 ≤ g₂ + h₂, completing through heuristic h is strictly worse than an existing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The Core Concept: Truncation &amp; The Fallback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Why compare M-1 dimensions at all? And why does it break?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000000"/>
                </a:solidFill>
                <a:latin typeface="Calibri"/>
              </a:rPr>
              <a:t>1. Why use Truncation at all?</a:t>
            </a: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Normal Pareto dominance checks all M coordinates:  g'₁ ≤ g₁  AND  g'₂ ≤ g₂.</a:t>
            </a: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In single-heuristic A*, OPEN pops nodes in strictly increasing order of primary cost g₁.</a:t>
            </a: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If g₁ always arrives in non-decreasing order (monotonic),  g'₁ ≤ g₁  is ALWAYS TRUE for past nodes!</a:t>
            </a: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We can drop dimension 1 and only compare  Tr(g) = g₂  →  </a:t>
            </a:r>
            <a:r>
              <a:rPr sz="1200" b="1" i="0" dirty="0">
                <a:solidFill>
                  <a:srgbClr val="222222"/>
                </a:solidFill>
                <a:latin typeface="Calibri"/>
              </a:rPr>
              <a:t>massive speedup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 across millions of queries.</a:t>
            </a:r>
          </a:p>
          <a:p>
            <a:pPr>
              <a:spcBef>
                <a:spcPts val="1400"/>
              </a:spcBef>
            </a:pPr>
            <a:r>
              <a:rPr sz="1400" b="1" i="0" dirty="0">
                <a:solidFill>
                  <a:srgbClr val="000000"/>
                </a:solidFill>
                <a:latin typeface="Calibri"/>
              </a:rPr>
              <a:t>2. Why do we still need a Full-Dimensional Check (Fallback)?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Multi-Valued Heuristics (MVH) assign multiple lower bounds:  H(s) = {h⁽¹⁾, h⁽²⁾}.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Different paths choose different heuristics  →  their f₁ = g₁ + h₁ priority key shifts in OPEN!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A path with worse actual cost (g₁ = 10) can pop BEFORE a path with better cost (g₁ = 8).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When the second path arrives, Truncation sees only g₂ and claims Path A dominates it (FALSE DOMINANCE)!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The Fallback catches this violation (max g'₁ ≰ g₁) and re-checks all M dimensions.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Key Insight: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Truncation is an optimistic speedup. The Fallback guarantees exact Pareto soundness.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Maya’s LOCALDOMCHECK Algorithm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(Wolff, Felner, Salzman, SoCS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Consolas"/>
              </a:rPr>
              <a:t>function LOCALDOMCHECK(s, g):</a:t>
            </a:r>
          </a:p>
          <a:p>
            <a:r>
              <a:rPr sz="1150" b="0" i="0">
                <a:solidFill>
                  <a:srgbClr val="222222"/>
                </a:solidFill>
                <a:latin typeface="Consolas"/>
              </a:rPr>
              <a:t>    // 1. Optimistic Truncated Check (in M-1 dimensions):</a:t>
            </a:r>
          </a:p>
          <a:p>
            <a:r>
              <a:rPr sz="1150" b="0" i="0">
                <a:solidFill>
                  <a:srgbClr val="222222"/>
                </a:solidFill>
                <a:latin typeface="Consolas"/>
              </a:rPr>
              <a:t>    if exists g' in G_cl_Tr(s) such that Tr(g') &lt;= Tr(g):</a:t>
            </a:r>
          </a:p>
          <a:p>
            <a:endParaRPr sz="1150" b="0" i="0">
              <a:solidFill>
                <a:srgbClr val="222222"/>
              </a:solidFill>
              <a:latin typeface="Consolas"/>
            </a:endParaRPr>
          </a:p>
          <a:p>
            <a:r>
              <a:rPr sz="1150" b="0" i="0">
                <a:solidFill>
                  <a:srgbClr val="222222"/>
                </a:solidFill>
                <a:latin typeface="Consolas"/>
              </a:rPr>
              <a:t>        // 2. Monotonicity Guard (is g₁ order valid?):</a:t>
            </a:r>
          </a:p>
          <a:p>
            <a:r>
              <a:rPr sz="1150" b="1" i="0">
                <a:solidFill>
                  <a:srgbClr val="C9302C"/>
                </a:solidFill>
                <a:latin typeface="Consolas"/>
              </a:rPr>
              <a:t>        if max_g'1 &lt;= g1:</a:t>
            </a:r>
          </a:p>
          <a:p>
            <a:r>
              <a:rPr sz="1150" b="0" i="0">
                <a:solidFill>
                  <a:srgbClr val="222222"/>
                </a:solidFill>
                <a:latin typeface="Consolas"/>
              </a:rPr>
              <a:t>            return TRUE    // Soundly dominated via Truncation</a:t>
            </a:r>
          </a:p>
          <a:p>
            <a:endParaRPr sz="1150" b="0" i="0">
              <a:solidFill>
                <a:srgbClr val="222222"/>
              </a:solidFill>
              <a:latin typeface="Consolas"/>
            </a:endParaRPr>
          </a:p>
          <a:p>
            <a:r>
              <a:rPr sz="1150" b="1" i="0">
                <a:solidFill>
                  <a:srgbClr val="C9302C"/>
                </a:solidFill>
                <a:latin typeface="Consolas"/>
              </a:rPr>
              <a:t>        // 3. FALLBACK: Full-Dimensional Check (all M dimensions):</a:t>
            </a:r>
          </a:p>
          <a:p>
            <a:r>
              <a:rPr sz="1150" b="1" i="0">
                <a:solidFill>
                  <a:srgbClr val="C9302C"/>
                </a:solidFill>
                <a:latin typeface="Consolas"/>
              </a:rPr>
              <a:t>        if exists g' in G_cl(s) such that g' &lt;= g:</a:t>
            </a:r>
          </a:p>
          <a:p>
            <a:r>
              <a:rPr sz="1150" b="0" i="0">
                <a:solidFill>
                  <a:srgbClr val="222222"/>
                </a:solidFill>
                <a:latin typeface="Consolas"/>
              </a:rPr>
              <a:t>            return TRUE    // Truly dominated in full space</a:t>
            </a:r>
          </a:p>
          <a:p>
            <a:r>
              <a:rPr sz="1150" b="1" i="0">
                <a:solidFill>
                  <a:srgbClr val="C9302C"/>
                </a:solidFill>
                <a:latin typeface="Consolas"/>
              </a:rPr>
              <a:t>        return FALSE       // Non-dominated! Saved by fallback!</a:t>
            </a:r>
          </a:p>
          <a:p>
            <a:endParaRPr sz="1150" b="1" i="0">
              <a:solidFill>
                <a:srgbClr val="C9302C"/>
              </a:solidFill>
              <a:latin typeface="Consolas"/>
            </a:endParaRPr>
          </a:p>
          <a:p>
            <a:r>
              <a:rPr sz="1150" b="0" i="0">
                <a:solidFill>
                  <a:srgbClr val="222222"/>
                </a:solidFill>
                <a:latin typeface="Consolas"/>
              </a:rPr>
              <a:t>    return FALSE           // Undominated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The 3 Steps: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1. Fast test (M-1 dims)  →  2. Guard (max g'₁ ≤ g₁)  →  3. Fallback (all M dims).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600" b="1" i="0" dirty="0">
                <a:solidFill>
                  <a:srgbClr val="000000"/>
                </a:solidFill>
                <a:latin typeface="Calibri"/>
              </a:rPr>
              <a:t>Base Graph State</a:t>
            </a:r>
            <a:endParaRPr sz="2600" b="1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400"/>
              </a:spcBef>
            </a:pPr>
            <a:r>
              <a:rPr sz="1300" b="0" i="0" dirty="0">
                <a:solidFill>
                  <a:srgbClr val="646464"/>
                </a:solidFill>
                <a:latin typeface="Calibri"/>
              </a:rPr>
              <a:t>Where did our previous paths and the goal frontier come from?</a:t>
            </a:r>
          </a:p>
        </p:txBody>
      </p:sp>
      <p:pic>
        <p:nvPicPr>
          <p:cNvPr id="3" name="Picture 2" descr="step0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1387328"/>
            <a:ext cx="8869680" cy="4083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06440"/>
            <a:ext cx="10698480" cy="592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dirty="0">
                <a:solidFill>
                  <a:srgbClr val="000000"/>
                </a:solidFill>
                <a:latin typeface="Calibri"/>
              </a:rPr>
              <a:t>0: Previous search history before arriving at node s:</a:t>
            </a:r>
          </a:p>
          <a:p>
            <a:pPr>
              <a:spcBef>
                <a:spcPts val="300"/>
              </a:spcBef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1. An earlier path already reached </a:t>
            </a:r>
            <a:r>
              <a:rPr sz="1050" b="1" i="0" dirty="0" err="1">
                <a:solidFill>
                  <a:srgbClr val="222222"/>
                </a:solidFill>
                <a:latin typeface="Calibri"/>
              </a:rPr>
              <a:t>s_goal</a:t>
            </a:r>
            <a:r>
              <a:rPr sz="1050" b="1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with total cost (8, 6). The truncated cost enters T = {6}.
2. Two new paths are now approaching state s: Path A with gᴬ = (10, 2) and Path B with gᴮ = (8, 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 dirty="0">
                <a:solidFill>
                  <a:srgbClr val="000000"/>
                </a:solidFill>
                <a:latin typeface="Calibri"/>
              </a:rPr>
              <a:t>Search State at Node s</a:t>
            </a:r>
          </a:p>
          <a:p>
            <a:pPr algn="ctr">
              <a:spcBef>
                <a:spcPts val="400"/>
              </a:spcBef>
            </a:pPr>
            <a:r>
              <a:rPr sz="1300" b="0" i="0" dirty="0">
                <a:solidFill>
                  <a:srgbClr val="646464"/>
                </a:solidFill>
                <a:latin typeface="Calibri"/>
              </a:rPr>
              <a:t>Before either path expands at node s</a:t>
            </a:r>
          </a:p>
        </p:txBody>
      </p:sp>
      <p:pic>
        <p:nvPicPr>
          <p:cNvPr id="3" name="Picture 2" descr="trace_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 dirty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 dirty="0" err="1">
                <a:solidFill>
                  <a:srgbClr val="000000"/>
                </a:solidFill>
                <a:latin typeface="Consolas"/>
              </a:rPr>
              <a:t>G_cl</a:t>
            </a:r>
            <a:r>
              <a:rPr sz="950" b="1" i="0" dirty="0">
                <a:solidFill>
                  <a:srgbClr val="000000"/>
                </a:solidFill>
                <a:latin typeface="Consolas"/>
              </a:rPr>
              <a:t>(s):       </a:t>
            </a:r>
            <a:r>
              <a:rPr sz="950" b="0" i="0" dirty="0">
                <a:solidFill>
                  <a:srgbClr val="222222"/>
                </a:solidFill>
                <a:latin typeface="Consolas"/>
              </a:rPr>
              <a:t>∅</a:t>
            </a:r>
          </a:p>
          <a:p>
            <a:pPr>
              <a:spcBef>
                <a:spcPts val="400"/>
              </a:spcBef>
            </a:pPr>
            <a:r>
              <a:rPr sz="950" b="1" i="0" dirty="0" err="1">
                <a:solidFill>
                  <a:srgbClr val="000000"/>
                </a:solidFill>
                <a:latin typeface="Consolas"/>
              </a:rPr>
              <a:t>G_cl_Tr</a:t>
            </a:r>
            <a:r>
              <a:rPr sz="950" b="1" i="0" dirty="0">
                <a:solidFill>
                  <a:srgbClr val="000000"/>
                </a:solidFill>
                <a:latin typeface="Consolas"/>
              </a:rPr>
              <a:t>(s):    </a:t>
            </a:r>
            <a:r>
              <a:rPr sz="950" b="0" i="0" dirty="0">
                <a:solidFill>
                  <a:srgbClr val="222222"/>
                </a:solidFill>
                <a:latin typeface="Consolas"/>
              </a:rPr>
              <a:t>∅</a:t>
            </a:r>
          </a:p>
          <a:p>
            <a:pPr>
              <a:spcBef>
                <a:spcPts val="400"/>
              </a:spcBef>
            </a:pPr>
            <a:r>
              <a:rPr sz="950" b="1" i="0" dirty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0" i="0" dirty="0">
                <a:solidFill>
                  <a:srgbClr val="222222"/>
                </a:solidFill>
                <a:latin typeface="Consolas"/>
              </a:rPr>
              <a:t>undefined</a:t>
            </a:r>
          </a:p>
          <a:p>
            <a:pPr>
              <a:spcBef>
                <a:spcPts val="400"/>
              </a:spcBef>
            </a:pPr>
            <a:r>
              <a:rPr sz="950" b="1" i="0" dirty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 dirty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 dirty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 dirty="0">
                <a:solidFill>
                  <a:srgbClr val="646464"/>
                </a:solidFill>
                <a:latin typeface="Consolas"/>
              </a:rPr>
              <a:t>  [ Empty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19006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Heuristics at state s (sorted ascending by h₁):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h⁽¹⁾ = (1, 3) • h⁽²⁾ = (5, 1) </a:t>
            </a:r>
            <a:endParaRPr lang="en-US" sz="1100" b="0" i="0" dirty="0">
              <a:solidFill>
                <a:srgbClr val="222222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Incoming Paths to state s: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C9302C"/>
                </a:solidFill>
                <a:latin typeface="Calibri"/>
              </a:rPr>
              <a:t>• Path A: gᴬ = (10, 2)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E67E22"/>
                </a:solidFill>
                <a:latin typeface="Calibri"/>
              </a:rPr>
              <a:t>• Path B: gᴮ = (8, 4)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Neither dominates the other</a:t>
            </a:r>
            <a:r>
              <a:rPr lang="en-US" sz="1100" b="1" i="0" dirty="0">
                <a:latin typeface="Calibri"/>
              </a:rPr>
              <a:t>.</a:t>
            </a:r>
            <a:r>
              <a:rPr sz="1100" b="1" i="0" dirty="0">
                <a:latin typeface="Calibri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0: Initial state at node s. G_cl(s) is empty, Goal frontier T = {6}.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Both Path A and Path B are approaching state 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Step 1: Path A Arrives at State s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gᴬ = (10, 2) evaluates heuristics via CHOOSEH</a:t>
            </a:r>
          </a:p>
        </p:txBody>
      </p:sp>
      <p:pic>
        <p:nvPicPr>
          <p:cNvPr id="3" name="Picture 2" descr="trace_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∅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∅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undefined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22222"/>
                </a:solidFill>
                <a:latin typeface="Consolas"/>
              </a:rPr>
              <a:t>  Path A: g=(10,2), h=(1,3) -&gt; f₁=11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920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>
                <a:solidFill>
                  <a:srgbClr val="000000"/>
                </a:solidFill>
                <a:latin typeface="Calibri"/>
              </a:rPr>
              <a:t>CHOOSEH for Path A: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  <a:latin typeface="Calibri"/>
              </a:rPr>
              <a:t>1. Test h⁽¹⁾ = (1, 3):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  <a:latin typeface="Calibri"/>
              </a:rPr>
              <a:t>   f = gᴬ + h⁽¹⁾ = (10+1, 2+3) = (11, 5)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  <a:latin typeface="Calibri"/>
              </a:rPr>
              <a:t>   Tr(f) = f₂ = 5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  <a:latin typeface="Calibri"/>
              </a:rPr>
              <a:t>2. Check vs Goal T = {6}:</a:t>
            </a:r>
          </a:p>
          <a:p>
            <a:pPr>
              <a:spcBef>
                <a:spcPts val="200"/>
              </a:spcBef>
            </a:pPr>
            <a:r>
              <a:rPr sz="1100" b="1" i="0">
                <a:solidFill>
                  <a:srgbClr val="28A745"/>
                </a:solidFill>
                <a:latin typeface="Calibri"/>
              </a:rPr>
              <a:t>   Is 6 ≤ 5?  → FALSE (Not dominated by goal)</a:t>
            </a:r>
          </a:p>
          <a:p>
            <a:pPr>
              <a:spcBef>
                <a:spcPts val="200"/>
              </a:spcBef>
            </a:pPr>
            <a:r>
              <a:rPr sz="1100" b="1" i="0">
                <a:solidFill>
                  <a:srgbClr val="28A745"/>
                </a:solidFill>
                <a:latin typeface="Calibri"/>
              </a:rPr>
              <a:t>3. h⁽¹⁾ is Accepted!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000000"/>
                </a:solidFill>
                <a:latin typeface="Calibri"/>
              </a:rPr>
              <a:t>   Path A enters OPEN with priority key:  f₁ = 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1: Path A selects h⁽¹⁾ and enters OPEN with priority f₁ = 11.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Path A has actual accumulated cost g₁ =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Step 2a: Path B Arrives at State s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gᴮ = (8, 4) — Why is h⁽¹⁾ refuted? Because of the GOAL, not Path A!</a:t>
            </a:r>
          </a:p>
        </p:txBody>
      </p:sp>
      <p:pic>
        <p:nvPicPr>
          <p:cNvPr id="3" name="Picture 2" descr="trace_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∅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∅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undefined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22222"/>
                </a:solidFill>
                <a:latin typeface="Consolas"/>
              </a:rPr>
              <a:t>  Path A: g=(10,2), h=(1,3) -&gt; f₁=11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77484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CHOOSEH for Path B: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1. Test h⁽¹⁾ = (1, 3):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   f = gᴮ + h⁽¹⁾ = (8+1, 4+3) = (9, 7)  →  Tr(f) = 7</a:t>
            </a:r>
          </a:p>
          <a:p>
            <a:pPr>
              <a:spcBef>
                <a:spcPts val="200"/>
              </a:spcBef>
            </a:pPr>
            <a:r>
              <a:rPr sz="1100" i="0" dirty="0">
                <a:solidFill>
                  <a:srgbClr val="C9302C"/>
                </a:solidFill>
                <a:latin typeface="Calibri"/>
              </a:rPr>
              <a:t>2. Check vs Goal T = {6}: Is 6 ≤ 7? → TRUE</a:t>
            </a:r>
            <a:r>
              <a:rPr lang="en-US" sz="1100" i="0" dirty="0">
                <a:solidFill>
                  <a:srgbClr val="C9302C"/>
                </a:solidFill>
                <a:latin typeface="Calibri"/>
              </a:rPr>
              <a:t> -&gt; </a:t>
            </a:r>
            <a:r>
              <a:rPr lang="en-US" sz="1100" b="1" dirty="0">
                <a:solidFill>
                  <a:srgbClr val="C9302C"/>
                </a:solidFill>
              </a:rPr>
              <a:t>REJECT h⁽¹⁾ </a:t>
            </a:r>
          </a:p>
          <a:p>
            <a:pPr>
              <a:spcBef>
                <a:spcPts val="200"/>
              </a:spcBef>
            </a:pPr>
            <a:r>
              <a:rPr sz="1100" i="0" dirty="0">
                <a:latin typeface="Calibri"/>
              </a:rPr>
              <a:t>★ WHY rejected even though g₁ᴮ = 8 &lt; 10?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   • It is NOT being compared to Path A!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   • It is compared to the GOAL in dimension 2!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C9302C"/>
                </a:solidFill>
                <a:latin typeface="Calibri"/>
              </a:rPr>
              <a:t>   • Projected time is 7, but goal already achieved 6!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C9302C"/>
                </a:solidFill>
                <a:latin typeface="Calibri"/>
              </a:rPr>
              <a:t>   → h⁽¹⁾ is discarded for Path 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2a: Path B cannot use h⁽¹⁾ because projected time 7 cannot beat known goal time 6 (6 ≤ 7).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Path B is forced to test its second heuristic h⁽²⁾.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Step 2b: Path B Accepts h⁽²⁾ &amp; Enqueues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gᴮ = (8, 4) paired with h⁽²⁾ = (5, 1) → priority f₁ = 8 + 5 = 13</a:t>
            </a:r>
          </a:p>
        </p:txBody>
      </p:sp>
      <p:pic>
        <p:nvPicPr>
          <p:cNvPr id="3" name="Picture 2" descr="trace_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∅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∅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undefined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22222"/>
                </a:solidFill>
                <a:latin typeface="Consolas"/>
              </a:rPr>
              <a:t>  Top:  Path A | g=(10,2) | f₁=11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22222"/>
                </a:solidFill>
                <a:latin typeface="Consolas"/>
              </a:rPr>
              <a:t>  Next: Path B | g=(8,4)  | f₁=13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77484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CHOOSEH for Path B (cont.):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1. Test h⁽²⁾ = (5, 1):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   f = gᴮ + h⁽²⁾ = (8+5, 4+1) = (13, 5)  →  Tr(f) = 5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28A745"/>
                </a:solidFill>
                <a:latin typeface="Calibri"/>
              </a:rPr>
              <a:t>2. Check vs Goal T = {6}: Is 6 ≤ 5? → FALSE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28A745"/>
                </a:solidFill>
                <a:latin typeface="Calibri"/>
              </a:rPr>
              <a:t>3. h⁽²⁾ Accepted! Enqueued with f₁ = 13.</a:t>
            </a:r>
          </a:p>
          <a:p>
            <a:pPr>
              <a:spcBef>
                <a:spcPts val="200"/>
              </a:spcBef>
            </a:pPr>
            <a:endParaRPr sz="1100" b="1" i="0" dirty="0"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★ PRIORITY INVERSION IN OPEN: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latin typeface="Calibri"/>
              </a:rPr>
              <a:t>   Path A has lower f₁ (11 &lt; 13) → POPPED FIRST!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latin typeface="Calibri"/>
              </a:rPr>
              <a:t>   Even though Path B has BETTER actual cost (8 &lt; 10)!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2b: Path B is enqueued behind Path A in OPEN because f₁ᴮ = 13 &gt; f₁ᴬ = 11.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ORDER INVERSION: Lower g₁ path will arrive at state s SECOND!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Step 3: Path A Popped &amp; Expanded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OPEN pops min f₁: Path A (f₁ = 11) commits to state s</a:t>
            </a:r>
          </a:p>
        </p:txBody>
      </p:sp>
      <p:pic>
        <p:nvPicPr>
          <p:cNvPr id="3" name="Picture 2" descr="trace_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{(10, 2)}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{2}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1" i="0">
                <a:solidFill>
                  <a:srgbClr val="C9302C"/>
                </a:solidFill>
                <a:latin typeface="Consolas"/>
              </a:rPr>
              <a:t>10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22222"/>
                </a:solidFill>
                <a:latin typeface="Consolas"/>
              </a:rPr>
              <a:t>  Top:  Path B | g=(8,4) | f₁=13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579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Execution Trace: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OPEN.PopMin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() returns Path A (f₁ = 11)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LOCALDOMCHECK: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G_cl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 is empty → FALSE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UPDATE(s, (10, 2)):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   -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G_cl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(s)    ← {(10, 2)}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   -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G_cl_Tr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(s) ← {2}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highlight>
                  <a:srgbClr val="FFFF00"/>
                </a:highlight>
                <a:latin typeface="Calibri"/>
              </a:rPr>
              <a:t>   - max g'₁    ← 10  (recorded in state</a:t>
            </a:r>
            <a:r>
              <a:rPr lang="en-US" sz="1100" b="1" i="0" dirty="0">
                <a:highlight>
                  <a:srgbClr val="FFFF00"/>
                </a:highlight>
                <a:latin typeface="Calibri"/>
              </a:rPr>
              <a:t> - Based on increasing order)</a:t>
            </a:r>
            <a:endParaRPr sz="1100" b="1" i="0" dirty="0">
              <a:highlight>
                <a:srgbClr val="FFFF00"/>
              </a:highlight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Path A expanded; successors generated.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3: Path A is closed at state s. G_cl(s) = {(10, 2)} and max g'₁ = 10.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Next node to pop from OPEN is Path B with gᴮ = (8, 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Step 4a: Path B Popped — Truncated Check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Query: Does any g' in G_cl_Tr(s) have Tr(g') ≤ Tr(gᴮ)?</a:t>
            </a:r>
          </a:p>
        </p:txBody>
      </p:sp>
      <p:pic>
        <p:nvPicPr>
          <p:cNvPr id="3" name="Picture 2" descr="trace_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{(10, 2)}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{2}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1" i="0">
                <a:solidFill>
                  <a:srgbClr val="C9302C"/>
                </a:solidFill>
                <a:latin typeface="Consolas"/>
              </a:rPr>
              <a:t>10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46464"/>
                </a:solidFill>
                <a:latin typeface="Consolas"/>
              </a:rPr>
              <a:t>  [ Empty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579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Step 1 of LOCALDOMCHECK (Truncated Check):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Tr(gᴮ) = g₂ᴮ = 4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Compare against </a:t>
            </a:r>
            <a:r>
              <a:rPr sz="1100" b="0" i="0" dirty="0" err="1">
                <a:solidFill>
                  <a:srgbClr val="222222"/>
                </a:solidFill>
                <a:latin typeface="Calibri"/>
              </a:rPr>
              <a:t>G_cl_Tr</a:t>
            </a:r>
            <a:r>
              <a:rPr sz="1100" b="0" i="0" dirty="0">
                <a:solidFill>
                  <a:srgbClr val="222222"/>
                </a:solidFill>
                <a:latin typeface="Calibri"/>
              </a:rPr>
              <a:t>(s) = {2}: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   Is 2 ≤ 4 ?  → TRUE!</a:t>
            </a:r>
          </a:p>
          <a:p>
            <a:pPr>
              <a:spcBef>
                <a:spcPts val="200"/>
              </a:spcBef>
            </a:pPr>
            <a:r>
              <a:rPr lang="en-US" sz="1100" b="1" dirty="0">
                <a:highlight>
                  <a:srgbClr val="FFFF00"/>
                </a:highlight>
                <a:latin typeface="Calibri"/>
              </a:rPr>
              <a:t>Should we Prune?</a:t>
            </a:r>
            <a:endParaRPr sz="1100" b="1" i="0" dirty="0">
              <a:highlight>
                <a:srgbClr val="FFFF00"/>
              </a:highlight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1" i="0" dirty="0">
                <a:highlight>
                  <a:srgbClr val="FFFF00"/>
                </a:highlight>
                <a:latin typeface="Calibri"/>
              </a:rPr>
              <a:t>⚠ </a:t>
            </a:r>
            <a:r>
              <a:rPr lang="en-US" sz="1100" b="1" i="0" dirty="0">
                <a:highlight>
                  <a:srgbClr val="FFFF00"/>
                </a:highlight>
                <a:latin typeface="Calibri"/>
              </a:rPr>
              <a:t>NO!</a:t>
            </a:r>
            <a:r>
              <a:rPr sz="1100" b="1" i="0" dirty="0">
                <a:highlight>
                  <a:srgbClr val="FFFF00"/>
                </a:highlight>
                <a:latin typeface="Calibri"/>
              </a:rPr>
              <a:t>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highlight>
                  <a:srgbClr val="FFFF00"/>
                </a:highlight>
                <a:latin typeface="Calibri"/>
              </a:rPr>
              <a:t>   Looking ONLY at coordinate g₂, Path A appears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highlight>
                  <a:srgbClr val="FFFF00"/>
                </a:highlight>
                <a:latin typeface="Calibri"/>
              </a:rPr>
              <a:t>   to dominate Path B! If we prune now, Path B is lost.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4a: Truncated test succeeds (2 ≤ 4). Path B appears dominated in g₂.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Truncation assumes g₁ was monotonic. Is it?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Step 4b: Monotonicity Guard Catches the Trap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Condition: Does max g'₁ ≤ g₁ᴮ hold?</a:t>
            </a:r>
          </a:p>
        </p:txBody>
      </p:sp>
      <p:pic>
        <p:nvPicPr>
          <p:cNvPr id="3" name="Picture 2" descr="trace_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{(10, 2)}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{2}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1" i="0">
                <a:solidFill>
                  <a:srgbClr val="C9302C"/>
                </a:solidFill>
                <a:latin typeface="Consolas"/>
              </a:rPr>
              <a:t>10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46464"/>
                </a:solidFill>
                <a:latin typeface="Consolas"/>
              </a:rPr>
              <a:t>  [ Empty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579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Step 2 of LOCALDOMCHECK (Monotonicity Guard):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Recorded max g'₁ = 10 (from Path A)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• Incoming Path B has g₁ᴮ = 8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• Check: Is max g'₁ ≤ g₁ᴮ ?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highlight>
                  <a:srgbClr val="FFFF00"/>
                </a:highlight>
                <a:latin typeface="Calibri"/>
              </a:rPr>
              <a:t>   Is 10 ≤ 8 ?  → FALSE! (Order Violation!)</a:t>
            </a:r>
          </a:p>
          <a:p>
            <a:pPr>
              <a:spcBef>
                <a:spcPts val="200"/>
              </a:spcBef>
            </a:pPr>
            <a:endParaRPr sz="1100" b="1" i="0" dirty="0">
              <a:solidFill>
                <a:srgbClr val="C9302C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✓ Algorithm detects truncated test was misled!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highlight>
                  <a:srgbClr val="00FF00"/>
                </a:highlight>
                <a:latin typeface="Calibri"/>
              </a:rPr>
              <a:t>→ FALLBACK</a:t>
            </a:r>
            <a:r>
              <a:rPr sz="1100" b="1" i="0" dirty="0">
                <a:latin typeface="Calibri"/>
              </a:rPr>
              <a:t> TO FULL DIMENSIONS TRIGGERED.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4b: Monotonicity guard detects order violation (10 ≰ 8).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Dimensionality reduction is inconclusive. We cannot safely prune.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Step 4c: Fallback — Full M-Dimensional Check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Compare Path A (10, 2) vs Path B (8, 4) in all M = 2 coordinates</a:t>
            </a:r>
          </a:p>
        </p:txBody>
      </p:sp>
      <p:pic>
        <p:nvPicPr>
          <p:cNvPr id="3" name="Picture 2" descr="trace_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{(10, 2)}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{2}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1" i="0">
                <a:solidFill>
                  <a:srgbClr val="C9302C"/>
                </a:solidFill>
                <a:latin typeface="Consolas"/>
              </a:rPr>
              <a:t>10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46464"/>
                </a:solidFill>
                <a:latin typeface="Consolas"/>
              </a:rPr>
              <a:t>  [ Empty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96977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Step 3 of LOCALDOMCHECK (Full Fallback):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Compare (10, 2) vs (8, 4) in full space: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• Dim 1 (g₁): Is 10 ≤ 8? → FALSE (Path B is better!)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latin typeface="Calibri"/>
              </a:rPr>
              <a:t>• Dim 2 (g₂): Is  2 ≤ 4? → TRUE  (Path A is better)</a:t>
            </a:r>
          </a:p>
          <a:p>
            <a:pPr>
              <a:spcBef>
                <a:spcPts val="200"/>
              </a:spcBef>
            </a:pPr>
            <a:endParaRPr sz="1100" b="0" i="0" dirty="0"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Decision: Path A does NOT dominate Path B!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latin typeface="Calibri"/>
              </a:rPr>
              <a:t>• Genuine Pareto trade-off.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• Returns FALSE → Path B SURVIVES!</a:t>
            </a:r>
            <a:endParaRPr lang="en-US" sz="1100" b="1" i="0" dirty="0">
              <a:latin typeface="Calibri"/>
            </a:endParaRPr>
          </a:p>
          <a:p>
            <a:pPr>
              <a:spcBef>
                <a:spcPts val="200"/>
              </a:spcBef>
            </a:pPr>
            <a:endParaRPr lang="en-US" sz="1100" b="1" i="0" dirty="0">
              <a:solidFill>
                <a:srgbClr val="28A745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lang="en-US" sz="1100" b="1" dirty="0">
                <a:highlight>
                  <a:srgbClr val="00FFFF"/>
                </a:highlight>
                <a:latin typeface="Calibri"/>
              </a:rPr>
              <a:t>How do I do that? Optimally by K-D-Tree.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4c: Full check confirms Path B is NOT dominated. Path B is saved!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Notice Path B lies outside Path A's dominance cone (shaded gray).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Step 4d: Both Paths on Pareto Front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G_cl(s) = {(10, 2), (8, 4)} — search soundness preserved</a:t>
            </a:r>
          </a:p>
        </p:txBody>
      </p:sp>
      <p:pic>
        <p:nvPicPr>
          <p:cNvPr id="3" name="Picture 2" descr="trace_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{(10, 2), (8, 4)}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{2, 4}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1" i="0">
                <a:solidFill>
                  <a:srgbClr val="C9302C"/>
                </a:solidFill>
                <a:latin typeface="Consolas"/>
              </a:rPr>
              <a:t>10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46464"/>
                </a:solidFill>
                <a:latin typeface="Consolas"/>
              </a:rPr>
              <a:t>  [ Empty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920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>
                <a:solidFill>
                  <a:srgbClr val="000000"/>
                </a:solidFill>
                <a:latin typeface="Calibri"/>
              </a:rPr>
              <a:t>Search State Consolidated: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UPDATE commits Path B: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  <a:latin typeface="Calibri"/>
              </a:rPr>
              <a:t>   - G_cl(s)    = {(10, 2), (8, 4)}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  <a:latin typeface="Calibri"/>
              </a:rPr>
              <a:t>   - G_cl_Tr(s) = {2, 4}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22222"/>
                </a:solidFill>
                <a:latin typeface="Calibri"/>
              </a:rPr>
              <a:t>• Both paths continue expanding toward the goal.</a:t>
            </a:r>
          </a:p>
          <a:p>
            <a:pPr>
              <a:spcBef>
                <a:spcPts val="200"/>
              </a:spcBef>
            </a:pPr>
            <a:r>
              <a:rPr sz="1100" b="1" i="0">
                <a:solidFill>
                  <a:srgbClr val="28A745"/>
                </a:solidFill>
                <a:latin typeface="Calibri"/>
              </a:rPr>
              <a:t>• Exact Pareto optimality is preserved bit-identically!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4d: Both Path A and Path B survive and enter the closed set.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Search soundness is preserved 100% bit-identically.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Failure Case: What If We Omit the Fallback?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Naive Truncation murders valid Pareto solutions</a:t>
            </a:r>
          </a:p>
        </p:txBody>
      </p:sp>
      <p:pic>
        <p:nvPicPr>
          <p:cNvPr id="3" name="Picture 2" descr="trace_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83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645920"/>
            <a:ext cx="5212080" cy="2011680"/>
          </a:xfrm>
          <a:prstGeom prst="rect">
            <a:avLst/>
          </a:prstGeom>
          <a:solidFill>
            <a:srgbClr val="FAFA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SEARCH STATE &amp; VARIABLES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G_cl(s):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{(10, 2)}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G_cl_Tr(s):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{2}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max g'₁(s):    </a:t>
            </a:r>
            <a:r>
              <a:rPr sz="950" b="1" i="0">
                <a:solidFill>
                  <a:srgbClr val="C9302C"/>
                </a:solidFill>
                <a:latin typeface="Consolas"/>
              </a:rPr>
              <a:t>10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000000"/>
                </a:solidFill>
                <a:latin typeface="Consolas"/>
              </a:rPr>
              <a:t>Goal T:        </a:t>
            </a:r>
            <a:r>
              <a:rPr sz="950" b="0" i="0">
                <a:solidFill>
                  <a:srgbClr val="222222"/>
                </a:solidFill>
                <a:latin typeface="Consolas"/>
              </a:rPr>
              <a:t>{6}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Calibri"/>
              </a:rPr>
              <a:t>OPEN Queue (min-heap by f₁):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646464"/>
                </a:solidFill>
                <a:latin typeface="Consolas"/>
              </a:rPr>
              <a:t>  [ Empty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749039"/>
            <a:ext cx="5212080" cy="1579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Bef>
                <a:spcPts val="200"/>
              </a:spcBef>
            </a:pPr>
            <a:r>
              <a:rPr sz="1100" b="1" i="0" dirty="0">
                <a:solidFill>
                  <a:srgbClr val="000000"/>
                </a:solidFill>
                <a:latin typeface="Calibri"/>
              </a:rPr>
              <a:t>Without Fallback: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solidFill>
                  <a:srgbClr val="222222"/>
                </a:solidFill>
                <a:latin typeface="Calibri"/>
              </a:rPr>
              <a:t>1. Truncated test sees 2 ≤ 4 (True).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latin typeface="Calibri"/>
              </a:rPr>
              <a:t>2. Algorithm prunes Path B immediately.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latin typeface="Calibri"/>
              </a:rPr>
              <a:t>3. Path B never reaches the destination.</a:t>
            </a:r>
          </a:p>
          <a:p>
            <a:pPr>
              <a:spcBef>
                <a:spcPts val="200"/>
              </a:spcBef>
            </a:pPr>
            <a:endParaRPr sz="1100" b="0" i="0" dirty="0"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Consequence: Pareto front is </a:t>
            </a:r>
            <a:r>
              <a:rPr sz="1100" b="1" i="0" dirty="0">
                <a:highlight>
                  <a:srgbClr val="FFFF00"/>
                </a:highlight>
                <a:latin typeface="Calibri"/>
              </a:rPr>
              <a:t>INCOMPLETE</a:t>
            </a:r>
            <a:r>
              <a:rPr sz="1100" b="1" i="0" dirty="0">
                <a:latin typeface="Calibri"/>
              </a:rPr>
              <a:t>.</a:t>
            </a:r>
          </a:p>
          <a:p>
            <a:pPr>
              <a:spcBef>
                <a:spcPts val="200"/>
              </a:spcBef>
            </a:pPr>
            <a:r>
              <a:rPr sz="1100" b="0" i="0" dirty="0">
                <a:latin typeface="Calibri"/>
              </a:rPr>
              <a:t>• Optimal solutions in g₁ are permanently lost.</a:t>
            </a:r>
          </a:p>
          <a:p>
            <a:pPr>
              <a:spcBef>
                <a:spcPts val="200"/>
              </a:spcBef>
            </a:pPr>
            <a:r>
              <a:rPr sz="1100" b="1" i="0" dirty="0">
                <a:latin typeface="Calibri"/>
              </a:rPr>
              <a:t>• Search algorithm is MATHEMATICALLY UNSOUND.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Fatal Error: Pruning on truncation alone discards optimal solutions.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Maya's fallback is not an optimization — it is a strict correctness requirement.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Calibri"/>
              </a:rPr>
              <a:t>Accelerating the Fallback: Full-Dim K-d Tree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46464"/>
                </a:solidFill>
                <a:latin typeface="Calibri"/>
              </a:rPr>
              <a:t>From O(N) linear scan to O(N^(1 - 1/M)) spatial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000000"/>
                </a:solidFill>
                <a:latin typeface="Calibri"/>
              </a:rPr>
              <a:t>The Bottleneck in Baseline:</a:t>
            </a: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The fallback re-checks all M dimensions against every vector in </a:t>
            </a:r>
            <a:r>
              <a:rPr sz="1200" b="0" i="0" dirty="0" err="1">
                <a:solidFill>
                  <a:srgbClr val="222222"/>
                </a:solidFill>
                <a:latin typeface="Calibri"/>
              </a:rPr>
              <a:t>G_cl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(s).</a:t>
            </a: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In 98.5% of fallbacks, the candidate is non-dominated  →  must scan all N vectors!</a:t>
            </a: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On 6-objective benchmarks: 1.35 BILLION comparisons, taking 85%+ of search time.</a:t>
            </a:r>
          </a:p>
          <a:p>
            <a:pPr>
              <a:spcBef>
                <a:spcPts val="1400"/>
              </a:spcBef>
            </a:pPr>
            <a:r>
              <a:rPr sz="1400" b="1" i="0" dirty="0">
                <a:solidFill>
                  <a:srgbClr val="337AB7"/>
                </a:solidFill>
                <a:latin typeface="Calibri"/>
              </a:rPr>
              <a:t>The FAST-MVH Solution (Full-Dimensional K-d Tree):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Index </a:t>
            </a:r>
            <a:r>
              <a:rPr sz="1200" b="0" i="0" dirty="0" err="1">
                <a:solidFill>
                  <a:srgbClr val="222222"/>
                </a:solidFill>
                <a:latin typeface="Calibri"/>
              </a:rPr>
              <a:t>G_cl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(s) in a K-d Tree over all M dimensions.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Each node stores subtree minimum bounds:  lo = (min p₁, ..., min </a:t>
            </a:r>
            <a:r>
              <a:rPr sz="1200" b="0" i="0" dirty="0" err="1">
                <a:solidFill>
                  <a:srgbClr val="222222"/>
                </a:solidFill>
                <a:latin typeface="Calibri"/>
              </a:rPr>
              <a:t>p_M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).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O(1) Bounding-Box Pruning: If lo[k] &gt; g[k] for ANY coordinate k,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    no vector in that subtree can dominate g  →  skip the entire branch!</a:t>
            </a: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   • Result: 217× fewer comparisons, 9× wall-clock speedup, 100% bit-identical front.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FAST-MVH: Replaces the linear fallback scan with a K-d tree for massive speedups.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Note: Same nodes expanded, same solutions returned — pure algorithmic acceleration.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 dirty="0">
                <a:solidFill>
                  <a:srgbClr val="000000"/>
                </a:solidFill>
                <a:latin typeface="Calibri"/>
              </a:rPr>
              <a:t>Summary: Why Truncate &amp; Why Fallback?</a:t>
            </a:r>
          </a:p>
          <a:p>
            <a:pPr algn="ctr">
              <a:spcBef>
                <a:spcPts val="400"/>
              </a:spcBef>
            </a:pPr>
            <a:r>
              <a:rPr sz="1300" b="0" i="0" dirty="0">
                <a:solidFill>
                  <a:srgbClr val="646464"/>
                </a:solidFill>
                <a:latin typeface="Calibri"/>
              </a:rPr>
              <a:t>The core intuition in three 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dirty="0">
                <a:solidFill>
                  <a:srgbClr val="000000"/>
                </a:solidFill>
                <a:latin typeface="Calibri"/>
              </a:rPr>
              <a:t>1. Why Truncate?     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OPEN sorts by f₁ = g₁ + h₁. Checking only M-1 dimensions saves massive work whenever g₁ arrives in non-decreasing order.</a:t>
            </a:r>
          </a:p>
          <a:p>
            <a:pPr>
              <a:spcBef>
                <a:spcPts val="1600"/>
              </a:spcBef>
            </a:pPr>
            <a:r>
              <a:rPr sz="1300" b="1" i="0" dirty="0">
                <a:solidFill>
                  <a:srgbClr val="000000"/>
                </a:solidFill>
                <a:latin typeface="Calibri"/>
              </a:rPr>
              <a:t>2. Why Fallback?     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MVH evaluates paths with different heuristics, causing paths to arrive out of g₁ order. Truncation falsely flags them as dominated; the Fallback re-checks all M dimensions to preserve Pareto optimality.</a:t>
            </a:r>
          </a:p>
          <a:p>
            <a:pPr>
              <a:spcBef>
                <a:spcPts val="1600"/>
              </a:spcBef>
            </a:pPr>
            <a:r>
              <a:rPr sz="1300" b="1" i="0" dirty="0">
                <a:solidFill>
                  <a:srgbClr val="000000"/>
                </a:solidFill>
                <a:latin typeface="Calibri"/>
              </a:rPr>
              <a:t>3. Why K-d Tree?     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Linear fallback scans consume 85%+ of runtime. Spatial K-d trees prune subtrees in O(1), making the fallback fast and scalable.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000000"/>
                </a:solidFill>
                <a:latin typeface="Calibri"/>
              </a:rPr>
              <a:t>End of Presentation.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22222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5209</TotalTime>
  <Words>3208</Words>
  <Application>Microsoft Office PowerPoint</Application>
  <PresentationFormat>Widescreen</PresentationFormat>
  <Paragraphs>269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בר פייגנברג</cp:lastModifiedBy>
  <cp:revision>3</cp:revision>
  <dcterms:created xsi:type="dcterms:W3CDTF">2013-01-27T09:14:16Z</dcterms:created>
  <dcterms:modified xsi:type="dcterms:W3CDTF">2026-10-11T08:54:09Z</dcterms:modified>
  <cp:category/>
</cp:coreProperties>
</file>