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1:</a:t>
            </a:r>
          </a:p>
          <a:p>
            <a:r>
              <a:t>Ariel, this presentation summarizes our complete research trajectory from Maya Wohlf's baseline algorithm (L-NAMOA*_dr-mvh) to our latest algorithmic breakthrough, FAST3.</a:t>
            </a:r>
          </a:p>
          <a:p>
            <a:r>
              <a:t>The goal is to explain every core theoretical idea, why earlier attempts like heuristic trees failed, what Shahaf contributed and where it stalled, and how FAST3 solves the closed-set fallback bottleneck with a proven residue theorem and a logarithmic K-d forest.</a:t>
            </a:r>
          </a:p>
          <a:p>
            <a:r>
              <a:t>Everything in this work guarantees 100% bit-identical Pareto sets and identical node expansion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2:</a:t>
            </a:r>
          </a:p>
          <a:p>
            <a:r>
              <a:t>Maya Wohlf, Ariel Felner, and Dan Salzman (2026) introduced L-NAMOA*_dr-mvh. The core beauty of Maya's method is that MVHs provide multiple vectors representing different trade-offs, which prevents weak bounds. DR cuts out dimension 0, making checks faster.</a:t>
            </a:r>
          </a:p>
          <a:p>
            <a:r>
              <a:t>However, profiling Maya's code reveals three major bottlenecks:</a:t>
            </a:r>
          </a:p>
          <a:p>
            <a:r>
              <a:t>1. Every frontier is a flat list. Testing dominance is O(|F|).</a:t>
            </a:r>
          </a:p>
          <a:p>
            <a:r>
              <a:t>2. Node generation checks ChooseH first. If the state is locally dominated, that ChooseH query was totally wasted!</a:t>
            </a:r>
          </a:p>
          <a:p>
            <a:r>
              <a:t>3. DR gives false dominance when Tr(p) &lt;= Tr(g) but p0 &gt; g0. To remain exact, Maya scans the entire closed set C(s). On large instances, C(s) has tens of thousands of vectors, causing massive search stalls.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3:</a:t>
            </a:r>
          </a:p>
          <a:p>
            <a:r>
              <a:t>Shahaf Shperberg recognized that checking dominance in truncated frontiers is equivalent to an orthant query. He replaced Maya's flat lists with dynamic K-d trees over the M-1 coordinates.</a:t>
            </a:r>
          </a:p>
          <a:p>
            <a:r>
              <a:t>On M=4 and M=5, this dropped comparison counts by 10x-20x. But on M=3, Shahaf's solver was actually SLOWER than Maya (0.5x to 0.8x)!</a:t>
            </a:r>
          </a:p>
          <a:p>
            <a:r>
              <a:t>Why? Because at M=3, truncated space is 2D. A contiguous array of numbers scanned in linear memory streams through the CPU L1/L2 cache at 1-2 clock cycles per comparison. A K-d tree with dynamic pointers incurs cache misses of 50-100 cycles per node jump. Shahaf's fixed tau=32 threshold forced small 2D sets into trees prematurely. This taught us that promotion must be adaptive.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4:</a:t>
            </a:r>
          </a:p>
          <a:p>
            <a:r>
              <a:t>A natural question Ariel might ask is: 'Why not put a K-d tree on H(s)?'</a:t>
            </a:r>
          </a:p>
          <a:p>
            <a:r>
              <a:t>Roi proposed this in early 2026. On paper, it sounds great: H(s) is static, so build a spatial tree and skip blocks of refuted heuristics. However, our audit revealed why this is fundamentally flawed:</a:t>
            </a:r>
          </a:p>
          <a:p>
            <a:r>
              <a:t>1. In DR, H(s) must be traversed in lexicographic order. A spatial tree groups heuristics by proximity, not index order. Enforcing lowest-index selection requires complex branch-and-bound that destroys tree efficiency.</a:t>
            </a:r>
          </a:p>
          <a:p>
            <a:r>
              <a:t>2. Box rejection on H(s) requires querying the goal frontier T. If the box test fails to prune, you just paid for an expensive query for nothing!</a:t>
            </a:r>
          </a:p>
          <a:p>
            <a:r>
              <a:t>3. Once we reordered operations (testing LocalDom first), the remaining ChooseH calls almost always hit the very first heuristic h1 anyway. Building a tree for H(s) cost 7-9% of runtime with no gain. This negative result is theoretically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5:</a:t>
            </a:r>
          </a:p>
          <a:p>
            <a:r>
              <a:t>Here are the four pillars that formed FAST 1 and FAST 2:</a:t>
            </a:r>
          </a:p>
          <a:p>
            <a:r>
              <a:t>1. Operation Reordering: Testing LocalDom before ChooseH at node generation. Because both checks have no side effects, the search trajectory is identical, but 75-80% of successors are eliminated before ChooseH is even touched!</a:t>
            </a:r>
          </a:p>
          <a:p>
            <a:r>
              <a:t>2. Full-Dimensional Witness: When scanning the frontier F(s) on Tr, if p also has p0 &lt;= g0, then p dominates g in ALL dimensions. We exit immediately. Bad fallbacks drop from 81,000 down to 200!</a:t>
            </a:r>
          </a:p>
          <a:p>
            <a:r>
              <a:t>3. Redundancy Pointers: Most landmark heuristics are dominated in Tr by earlier landmarks. If landmark 1 was refuted by T, landmark 5 is provably refuted without any query.</a:t>
            </a:r>
          </a:p>
          <a:p>
            <a:r>
              <a:t>4. Adaptive Promotion: Fronts stay as flat contiguous arrays until their average query cost exceeds 64 comparisons. On M=3, they never promote, eliminating Shahaf's M=3 slowdown completely.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6:</a:t>
            </a:r>
          </a:p>
          <a:p>
            <a:r>
              <a:t>Now we arrive at the exact problem that gave birth to FAST3.</a:t>
            </a:r>
          </a:p>
          <a:p>
            <a:r>
              <a:t>Even with FAST2 running circles around Maya, when we pushed to 7D and 8D grids with over 1 million Pareto solutions, we hit a massive performance wall: the closed-set fallback!</a:t>
            </a:r>
          </a:p>
          <a:p>
            <a:r>
              <a:t>In Dimensionality Reduction, F(s) only stores vectors that are non-dominated in the last M-1 dimensions. When an incoming path g matches someone in Tr, but has a smaller coordinate 0, F(s) cannot tell if g is dominated or not. Why? Because an earlier path could have dominated g, but was evicted from F(s) by a different path.</a:t>
            </a:r>
          </a:p>
          <a:p>
            <a:r>
              <a:t>In Maya and FAST2, the only way to be sound was to scan C(s) - the list of ALL paths expanded at s. On our 8D grid (Case 12), C(s) grew to 50,000 paths. Fallbacks were called 300,000 times. 300,000 * 50,000 = 59.3 BILLION comparisons! Memory bandwidth was completely exhausted.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7:</a:t>
            </a:r>
          </a:p>
          <a:p>
            <a:r>
              <a:t>Here is the mathematical breakthrough of FAST3 that we want to emphasize to Felner.</a:t>
            </a:r>
          </a:p>
          <a:p>
            <a:r>
              <a:t>We asked: Do we really need to store and scan C(s)?</a:t>
            </a:r>
          </a:p>
          <a:p>
            <a:r>
              <a:t>The answer is NO! When a point p is evicted from F(s) by a newly expanded path g:</a:t>
            </a:r>
          </a:p>
          <a:p>
            <a:r>
              <a:t>- If g0 &lt;= p0, then g is smaller or equal in EVERY single dimension. g completely dominates p! Any future path that could be dominated by p will already be dominated by g. So p can be thrown away into the trash!</a:t>
            </a:r>
          </a:p>
          <a:p>
            <a:r>
              <a:t>- The ONLY points that could ever answer a fallback are points where g0 &gt; p0! That is, points that were evicted by DR even though they had a better coordinate 0.</a:t>
            </a:r>
          </a:p>
          <a:p>
            <a:r>
              <a:t>We define this set as the Residue R(s). In Lemma 1, we prove that if F(s) has no dominator, C(s) has a dominator IF AND ONLY IF R(s) has a dominator.</a:t>
            </a:r>
          </a:p>
          <a:p>
            <a:r>
              <a:t>This completely eliminates C(s)! |R(s)| is less than 5% of |C(s)|, and R(s) is append-only.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8:</a:t>
            </a:r>
          </a:p>
          <a:p>
            <a:r>
              <a:t>Here is a concrete 3D numerical example to show Felner exactly how the Residue works.</a:t>
            </a:r>
          </a:p>
          <a:p>
            <a:r>
              <a:t>Suppose path a has cost (3,3,3). It enters F(s).</a:t>
            </a:r>
          </a:p>
          <a:p>
            <a:r>
              <a:t>Later, path b arrives with cost (9,2,2). Its truncation is (2,2), which dominates a's truncation (3,3). So b evicts a from the frontier. But notice that b0 = 9 while a0 = 3! Because 9 &gt; 3, b does NOT dominate a in dimension 0. Therefore, a is moved into the Residue R(s).</a:t>
            </a:r>
          </a:p>
          <a:p>
            <a:r>
              <a:t>Later, path g arrives with cost (4,3,3). In F(s), b matches g on truncation, but b0=9 &gt; 4. F(s) has no full witness. So we query R(s). In R(s), we find a=(3,3,3). Since (3,3,3) &lt;= (4,3,3), g is dominated and pruned!</a:t>
            </a:r>
          </a:p>
          <a:p>
            <a:r>
              <a:t>If a had cost (9,3,3) and b had cost (3,2,2), then b would dominate a in all 3 coordinates. In that case, a would be thrown away completely, and when g arrived, b would act as a full witness in F(s). This crystal-clear logic ensures exactness.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9:</a:t>
            </a:r>
          </a:p>
          <a:p>
            <a:r>
              <a:t>Now, how is the Residue R(s) indexed? This is the FallbackIndex&lt;D&gt; class in C++.</a:t>
            </a:r>
          </a:p>
          <a:p>
            <a:r>
              <a:t>Because R(s) is append-only, we do NOT need expensive dynamic trees with tombstones and rebuilds like Shahaf's frontier tree. Instead, we use Bentley and Saxe's classic Logarithmic Method:</a:t>
            </a:r>
          </a:p>
          <a:p>
            <a:r>
              <a:t>1. Inserts are O(1) appends into an unindexed tail buffer.</a:t>
            </a:r>
          </a:p>
          <a:p>
            <a:r>
              <a:t>2. When the buffer reaches 64 points, we convert it into a static K-d block. If there are adjacent blocks of similar size, we merge them, just like binary addition. This creates a forest of at most O(log n) static K-d trees.</a:t>
            </a:r>
          </a:p>
          <a:p>
            <a:r>
              <a:t>3. Each static tree is stored in an implicit flat array (median in middle, children at mid/2 and 3mid/2), with zero pointer overhead.</a:t>
            </a:r>
          </a:p>
          <a:p>
            <a:r>
              <a:t>4. Box rejection: Each subtree root stores lo_[mid], the componentwise lower bound. If lo_[mid] is not &lt;= q in even one coordinate, the entire subtree is rejected in a single vectorized test.</a:t>
            </a:r>
          </a:p>
          <a:p>
            <a:r>
              <a:t>On instance 12, this cut fallback comparisons from 59.3 billion to 1.6 billion.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10:</a:t>
            </a:r>
          </a:p>
          <a:p>
            <a:r>
              <a:t>To conclude, Ariel, here are the empirical results and our main findings:</a:t>
            </a:r>
          </a:p>
          <a:p>
            <a:r>
              <a:t>1. Soundness: On all instances from 3D to 8D, across road networks and synthetic grids with correlations, FAST3 produces bit-identical Pareto fronts with the exact same MD5 hashes and node expansion counts.</a:t>
            </a:r>
          </a:p>
          <a:p>
            <a:r>
              <a:t>2. Wall-clock performance: On medium road networks (Bay Area 6D), Maya took over an hour (3,775s); FAST3 finished in 7.63 seconds (494x speedup). On massive 8D grids with over 1 million Pareto solutions where Maya ran out of memory or took 10 hours, FAST3 finished in 6.8 minutes.</a:t>
            </a:r>
          </a:p>
          <a:p>
            <a:r>
              <a:t>3. Clean codebase: The implementation is completely self-contained in C++20, adheres to strict invariants, and provides an ideal foundation for a joint paper or thesis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  <a:latin typeface="Segoe UI"/>
              </a:defRPr>
            </a:pPr>
            <a:r>
              <a:t>RESEARCH SUMMARY &amp; PROGRESSION REPORT FOR ARIEL FELNER</a:t>
            </a:r>
          </a:p>
          <a:p>
            <a:pPr>
              <a:spcBef>
                <a:spcPts val="800"/>
              </a:spcBef>
              <a:defRPr sz="3800" b="1">
                <a:solidFill>
                  <a:srgbClr val="FFFFFF"/>
                </a:solidFill>
                <a:latin typeface="Segoe UI"/>
              </a:defRPr>
            </a:pPr>
            <a:r>
              <a:t>From Maya's Algorithm to FAST3</a:t>
            </a:r>
          </a:p>
          <a:p>
            <a:pPr>
              <a:spcBef>
                <a:spcPts val="600"/>
              </a:spcBef>
              <a:defRPr sz="2100">
                <a:solidFill>
                  <a:srgbClr val="CBD5E1"/>
                </a:solidFill>
                <a:latin typeface="Segoe UI"/>
              </a:defRPr>
            </a:pPr>
            <a:r>
              <a:t>Geometric Indexing, Shahaf's Frontiers, &amp; The Fallback Residue Breakthrough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931920"/>
            <a:ext cx="32461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The Core Challenge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Multi-Valued Heuristics (MVHs) combined with Dimensionality Reduction (DR) dramatically tighten heuristic bounds, but suffer from frontier explosions, false dominance, and massive fallback scans.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3931920"/>
            <a:ext cx="32461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4114800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The Evolutionary Path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Maya Wohlf (linear baseline) -&gt; Shahaf Shperberg (dynamic K-d frontiers) -&gt; FAST1/2 (operation reordering &amp; witness caching) -&gt; FAST3 (mathematical residue indexing).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3931920"/>
            <a:ext cx="324612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4114800"/>
            <a:ext cx="2880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The Golden Invariant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100% Bit-Identical Soundness: FAST3 strictly preserves Maya's lexicographic tie-breaking, producing byte-for-byte identical Pareto fronts while running up to 82x faster.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FOUNDATIONAL BASELINE</a:t>
            </a:r>
          </a:p>
          <a:p>
            <a:pPr>
              <a:spcBef>
                <a:spcPts val="300"/>
              </a:spcBef>
              <a:defRPr sz="2100" b="1">
                <a:solidFill>
                  <a:srgbClr val="1E293B"/>
                </a:solidFill>
                <a:latin typeface="Segoe UI"/>
              </a:defRPr>
            </a:pPr>
            <a:r>
              <a:t>Maya's Baseline (L-NAMOA*_dr-mvh) &amp; The Triple Query Burden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How Maya's Algorithm Works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Multi-Valued Heuristics (MVHs): Instead of a single lower-bound vector, each state has an ordered tuple H(s) = &lt;h1, h2, ..., hk&gt;. Componentwise max is NOT admissible for Pareto search; lexicographic selection order is a mathematical correctness requirement.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Dimensionality Reduction (DR): Truncate coordinate 0: Tr(x) = (x1, ..., xM-1). Dominance checks operate on (M-1) dimensions. O(1) decision if m(s) &lt;= g0 (monotonicity).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Successor Lifecycle in Maya: For every generated successor s':</a:t>
            </a:r>
            <a:br/>
            <a:r>
              <a:t>  1. First evaluates ChooseH(s', g') against goal frontier T.</a:t>
            </a:r>
            <a:br/>
            <a:r>
              <a:t>  2. Only then tests LocalDom(s', g') against state frontier F(s').</a:t>
            </a:r>
            <a:br/>
            <a:r>
              <a:t>  3. If undominated, inserts into OPEN.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The Three Primary Bottlenecks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1. Flat Linear Scans Everywhere: Frontiers F(s) and goal set T are stored in raw flat lists (vector&lt;vector&gt;). Queries perform full linear O(|F|) comparisons per check. In high dimensions, |F| reaches tens of thousands.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2. Wasted ChooseH Work: Testing ChooseH before LocalDom wastes massive time evaluating heuristic bounds against T for successors that will be immediately discarded by local dominance anyway!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3. The Dreaded Closed-Set Fallback: When Tr(p) &lt;= Tr(g) but p0 &gt; g0 (truncated match, but full-D miss), DR cannot decide. Maya falls back to a linear scan of ALL expanded paths C(s) (the entire closed list), triggering tens of billions of comparisons!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STEP 1: FRONTIER INDEXING</a:t>
            </a:r>
          </a:p>
          <a:p>
            <a:pPr>
              <a:spcBef>
                <a:spcPts val="300"/>
              </a:spcBef>
              <a:defRPr sz="2100" b="1">
                <a:solidFill>
                  <a:srgbClr val="1E293B"/>
                </a:solidFill>
                <a:latin typeface="Segoe UI"/>
              </a:defRPr>
            </a:pPr>
            <a:r>
              <a:t>Shahaf's Dynamic Frontier K-d Tree &amp; The 'Curse of M=3'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Shahaf's Core Innovation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Geometric Orthant Queries: Shperberg et al. observed that dominance testing in (M-1) coordinates is an orthant-emptiness query. A K-d tree answers this in O(n^(1 - 1/(M-1))) comparisons instead of O(n).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Dynamic K-d Frontier: Indexes F(s) and T using dynamic K-d trees with bounding boxes [min_box, max_box]. If min_box[k] &gt; q[k] for any coordinate k, the entire subtree is pruned!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Mark-and-Sweep Maintenance: Dominated points are marked dead (tombstones). The tree is fully rebuilt only when total nodes exceed 2 * built + 8 (amortized dynamic rebuild).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The Empirical Win: Cuts dominance comparisons by 10x-20x in M=4, 5, achieving 1.5x-2x speedups on large frontiers.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Why Shahaf's Solver Regressed on M=3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The Static Promotion Threshold (tau = 32): Shahaf used a fixed threshold: promote flat array to K-d tree once |F(s)| &gt;= 32. This worked well for high M, but was catastrophic for M=3.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Hardware Reality vs Theory at M=3: At M=3, the truncated space is only 2-dimensional (d = 2). A modern CPU streaming contiguous 64-bit integers with AVX cache prefetching performs flat linear scans at ~1-2 cycles per element!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Pointer Chasing Penalty: A K-d tree traversal incurs random pointer dereferences (~50-100 cycles per cache miss). At M=3, the tree overhead exceeded the linear scan savings, resulting in a 0.5x-0.8x SLOWDOWN vs Maya!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Key Takeaway: Frontier indexing must be adaptive and cost-model driven, not static! Tree promotion should only occur when measured scan cost justifies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STEP 2: HEURISTIC ANALYSIS</a:t>
            </a:r>
          </a:p>
          <a:p>
            <a:pPr>
              <a:spcBef>
                <a:spcPts val="300"/>
              </a:spcBef>
              <a:defRPr sz="2100" b="1">
                <a:solidFill>
                  <a:srgbClr val="1E293B"/>
                </a:solidFill>
                <a:latin typeface="Segoe UI"/>
              </a:defRPr>
            </a:pPr>
            <a:r>
              <a:t>The Heuristic Dilemma: Why Static Trees on H(s) Failed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The Tempting Idea (Roi's Proposal)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The Hypothesis: Since |H(s)| can reach 500+ vectors and ChooseH scans them sequentially, why not index H(s) in a static spatial K-d tree and prune rejected heuristics with bounding boxes?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Box Test Mechanics: For a subtree box [L, U] of heuristics:</a:t>
            </a:r>
            <a:br/>
            <a:r>
              <a:t>  * Discard subtree if Exists(T, Tr(g) + L) [Rule 1]</a:t>
            </a:r>
            <a:br/>
            <a:r>
              <a:t>  * Accept subtree if Not Exists(T, Tr(g) + U) [Rule 2]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Early Experimental Illusion: Early sweeps showed modest speedups when evaluating ChooseH in Maya's original order, leading to the belief that a heuristic tree threshold ~50 was optimal.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The Rigorous Audit &amp; Theoretical Barrier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Lexicographic Correctness Requirement: To preserve bit-identical search paths under DR, we MUST select the lowest-index unrefuted heuristic. Spatial trees scatter indices across branches, requiring expensive top-down branch-and-bound with min_idx tracking.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Rule 1 Box Tests Fail Expensive Queries: Heuristic boxes are loose. A failed Rule 1 test requires a FULL non-dominated query against T! Thus, the tree actually increased query costs on unrefuted paths.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The Decisive Blow (Post-Reordering): Once we test LocalDom before ChooseH (Slide 5), ChooseH calls drop by 76%, and 86% of remaining calls succeed on h[start] immediately!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Conclusion: Static heuristic trees add 7-9% build overhead with ZERO payoff. Flat contiguous Tr(H(s)) with redundancy pointers strictly dominates!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CORE ARCHITECTURAL INNOVATIONS</a:t>
            </a:r>
          </a:p>
          <a:p>
            <a:pPr>
              <a:spcBef>
                <a:spcPts val="300"/>
              </a:spcBef>
              <a:defRPr sz="2100" b="1">
                <a:solidFill>
                  <a:srgbClr val="1E293B"/>
                </a:solidFill>
                <a:latin typeface="Segoe UI"/>
              </a:defRPr>
            </a:pPr>
            <a:r>
              <a:t>FAST (1 &amp; 2): Algorithmic Reordering &amp; Eliminating Waste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212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1. Operation Reordering (LocalDom First)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Maya tested ChooseH before LocalDom. In FAST, we test LocalDom FIRST. Both predicates are pure (side-effect free), so the exact same nodes enter OPEN in the same order. BUT: 75%-80% of successors are pruned locally, completely avoiding ChooseH! Cuts ChooseH calls by 4.2x.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2. Full-Dimensional Witness Shortcut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During the truncated scan of F(s), if we encounter any vector p where Tr(p) &lt;= Tr(g) AND p0 &lt;= g0, p is a full-D witness! We return 'DOMINATED' immediately in O(1). Settles 99.8% of potential fallbacks instantly without ever touching the closed list.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5212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C3AED"/>
                </a:solidFill>
                <a:latin typeface="Segoe UI"/>
              </a:defRPr>
            </a:pPr>
            <a:r>
              <a:t>3. Truncation Redundancy Pointers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In landmark MVHs, 82%-86% of heuristic vectors are redundant: Tr(hi) &lt;= Tr(hj) for i &lt; j. We precompute redundancy pointers rho(j). If hi was refuted, hj is automatically refuted with ZERO queries! Reduces ChooseH comparisons from 10.4M to 1.6M.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931920"/>
            <a:ext cx="52120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6908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Segoe UI"/>
              </a:defRPr>
            </a:pPr>
            <a:r>
              <a:t>4. Cost-Model Adaptive Promotion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t>Instead of a static threshold, FAST tracks the running mean comparisons per query. Fronts promote to K-d trees ONLY when mean_scan &gt;= 64 AND size &gt;= 8. Automatically keeps M=3 flat (zero regression) while enabling full K-d power at M &gt;= 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THE MOTIVATION FOR FAST3</a:t>
            </a:r>
          </a:p>
          <a:p>
            <a:pPr>
              <a:spcBef>
                <a:spcPts val="300"/>
              </a:spcBef>
              <a:defRPr sz="2100" b="1">
                <a:solidFill>
                  <a:srgbClr val="1E293B"/>
                </a:solidFill>
                <a:latin typeface="Segoe UI"/>
              </a:defRPr>
            </a:pPr>
            <a:r>
              <a:t>The Hidden Wall: The Closed-Set Fallback Bottleneck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Why DR Requires a Full Fallback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The DR Invariant: F(s) is an antichain in (M-1) coordinates, NOT in M coordinates!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The False Dominance Event: Suppose a new path g arrives at state s. We query F(s) on Tr(g):</a:t>
            </a:r>
            <a:br/>
            <a:r>
              <a:t>  * Case 1: No p in F(s) has Tr(p) &lt;= Tr(g) -&gt; g is definitely undominated.</a:t>
            </a:r>
            <a:br/>
            <a:r>
              <a:t>  * Case 2: Some p in F(s) has Tr(p) &lt;= Tr(g) AND p0 &lt;= g0 -&gt; g is dominated (Full Witness).</a:t>
            </a:r>
            <a:br/>
            <a:r>
              <a:t>  * Case 3 (The Anomaly): Every p in F(s) that has Tr(p) &lt;= Tr(g) has p0 &gt; g0!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The Dilemma: In Case 3, F(s) cannot answer! A path expanded long ago might dominate g in all M coordinates, but that path was evicted from F(s) by someone else!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Maya &amp; FAST2 Baseline Solution: Scan the ENTIRE closed list C(s) (every expanded path at 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371600"/>
            <a:ext cx="4846320" cy="4937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55448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The 59 Billion Comparison Explosion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As Dimensions &amp; Pareto Fronts Scale: On large problems (M=6, 7, 8 and grids with &gt;1,000,000 Pareto solutions), C(s) reaches 50,000+ vectors per state.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Case 3 Triggers Thousands of Times: On instance grid_8x8_m8_rho-0.2 (Case 12), Case 3 occurred 300,269 times during search.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Linear Scan Exhaustion: 300,269 fallbacks * ~50,000 vectors = 59,317,871,622 (59.3 BILLION) full-dimensional comparisons in FAST2!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The Memory Bus Saturated: Even with contiguous memory streaming, scanning 59.3 billion elements choked CPU bandwidth, taking 1,197 seconds (~20 minutes).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The Critical Question: Do we REALLY need to scan all of C(s)? Can we prove mathematically that 99% of C(s) is irrelevant?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MATHEMATICAL CORE OF FAST3</a:t>
            </a:r>
          </a:p>
          <a:p>
            <a:pPr>
              <a:spcBef>
                <a:spcPts val="300"/>
              </a:spcBef>
              <a:defRPr sz="2100" b="1">
                <a:solidFill>
                  <a:srgbClr val="1E293B"/>
                </a:solidFill>
                <a:latin typeface="Segoe UI"/>
              </a:defRPr>
            </a:pPr>
            <a:r>
              <a:t>The FAST3 Breakthrough: Residue Sufficiency Theorem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20116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Theorem: The Evicted Residue R(s) is Sufficient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When an expansion with cost g evicts an existing vector p from F(s) (because Tr(g) &lt;= Tr(p)):</a:t>
            </a:r>
            <a:br/>
            <a:r>
              <a:t>  * If g0 &lt;= p0: Then g &lt;= p in ALL M dimensions! Vector g dominates p globally. Any future path dominated by p is ALREADY dominated by g (which is now in F(s)). Vector p can be safely DISCARDED FOREVER!</a:t>
            </a:r>
            <a:br/>
            <a:r>
              <a:t>  * If g0 &gt; p0: Vector g evicts p only in the truncated coordinates. Vector p may still dominate a future path that g cannot. Therefore, and ONLY therefore, p enters the Residue Set R(s)!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66160"/>
            <a:ext cx="5120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Lemma 1 (Residue Sufficiency)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Suppose no p in F(s) fully dominates g. Then:</a:t>
            </a:r>
            <a:br/>
            <a:r>
              <a:t>Some path a in C(s) dominates g &lt;===&gt; Some path r in R(s) dominates g.</a:t>
            </a:r>
            <a:br/>
            <a:br/>
            <a:r>
              <a:t>Proof Sketch: If a was evicted by b, and b0 &lt;= a0, then b dominates a, which dominates g. By induction, following the eviction chain backwards, the chain MUST end either at a live point in F(s) (impossible by premise) or at an element in R(s). Q.E.D.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566160"/>
            <a:ext cx="5212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Why This Changes Everything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|R(s)| &lt;&lt; |C(s)|: In practice, &gt;95% of evicted vectors are dominated in coordinate 0 (g0 &lt;= p0) and discarded immediately. The residue R(s) is orders of magnitude smaller than C(s)!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Append-Only Property: Points enter R(s) and are NEVER deleted. There are zero tombstones and zero dynamic deletions!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Zero Overhead on Common States: We never store C(s) at all. States that experience no fallbacks pay zero indexing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CLEAR STEP-BY-STEP EXAMPLE</a:t>
            </a:r>
          </a:p>
          <a:p>
            <a:pPr>
              <a:spcBef>
                <a:spcPts val="300"/>
              </a:spcBef>
              <a:defRPr sz="2100" b="1">
                <a:solidFill>
                  <a:srgbClr val="1E293B"/>
                </a:solidFill>
                <a:latin typeface="Segoe UI"/>
              </a:defRPr>
            </a:pPr>
            <a:r>
              <a:t>Concrete Walkthrough: DR, Eviction, &amp; Residue Pruning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91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Step 1: Early Expansions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Let M = 3. Search expands path a at state s:</a:t>
            </a:r>
            <a:br/>
            <a:r>
              <a:t>  * cost(a) = (3, 3, 3)</a:t>
            </a:r>
            <a:br/>
            <a:r>
              <a:t>  * Tr(a) = (3, 3)</a:t>
            </a:r>
            <a:br/>
            <a:r>
              <a:t>  * F(s) = { a }</a:t>
            </a:r>
            <a:br/>
            <a:r>
              <a:t>  * R(s) = { }</a:t>
            </a:r>
            <a:br/>
            <a:br/>
            <a:r>
              <a:t>Later, path b arrives at state s:</a:t>
            </a:r>
            <a:br/>
            <a:r>
              <a:t>  * cost(b) = (9, 2, 2)</a:t>
            </a:r>
            <a:br/>
            <a:r>
              <a:t>  * Tr(b) = (2, 2)</a:t>
            </a:r>
            <a:br/>
            <a:br/>
            <a:r>
              <a:t>Dominance in Tr:</a:t>
            </a:r>
            <a:br/>
            <a:r>
              <a:t>  Tr(b) = (2, 2) &lt;= Tr(a) = (3, 3).</a:t>
            </a:r>
            <a:br/>
            <a:r>
              <a:t>Path b evicts a from F(s)!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291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2926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Step 2: Eviction to Residue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Check coordinate 0 during eviction:</a:t>
            </a:r>
            <a:br/>
            <a:r>
              <a:t>  * b0 = 9</a:t>
            </a:r>
            <a:br/>
            <a:r>
              <a:t>  * a0 = 3</a:t>
            </a:r>
            <a:br/>
            <a:r>
              <a:t>Since b0 &gt; a0 (9 &gt; 3):</a:t>
            </a:r>
            <a:br/>
            <a:r>
              <a:t>Vector a is NOT dominated by b in coordinate 0!</a:t>
            </a:r>
            <a:br/>
            <a:br/>
            <a:r>
              <a:t>Action:</a:t>
            </a:r>
            <a:br/>
            <a:r>
              <a:t>  * Remove a from F(s)</a:t>
            </a:r>
            <a:br/>
            <a:r>
              <a:t>  * Insert b into F(s)</a:t>
            </a:r>
            <a:br/>
            <a:r>
              <a:t>  * Append a to Residue R(s)!</a:t>
            </a:r>
            <a:br/>
            <a:br/>
            <a:r>
              <a:t>State of s:</a:t>
            </a:r>
            <a:br/>
            <a:r>
              <a:t>  * F(s) = { b = (9, 2, 2) }</a:t>
            </a:r>
            <a:br/>
            <a:r>
              <a:t>  * R(s) = { a = (3, 3, 3) }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Step 3: Query &amp; Fallback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Now, a new path g arrives:</a:t>
            </a:r>
            <a:br/>
            <a:r>
              <a:t>  * cost(g) = (4, 3, 3)</a:t>
            </a:r>
            <a:br/>
            <a:r>
              <a:t>  * Tr(g) = (3, 3)</a:t>
            </a:r>
            <a:br/>
            <a:br/>
            <a:r>
              <a:t>1. Test against F(s):</a:t>
            </a:r>
            <a:br/>
            <a:r>
              <a:t>  * Tr(b) = (2,2) &lt;= Tr(g) = (3,3) [Truncated Match!]</a:t>
            </a:r>
            <a:br/>
            <a:r>
              <a:t>  * But b0 = 9 &gt; g0 = 4! [Full-D Miss!]</a:t>
            </a:r>
            <a:br/>
            <a:r>
              <a:t>  * No full witness in F(s)!</a:t>
            </a:r>
            <a:br/>
            <a:br/>
            <a:r>
              <a:t>2. Fallback to Residue R(s):</a:t>
            </a:r>
            <a:br/>
            <a:r>
              <a:t>  * Query R(s) with full cost g = (4, 3, 3).</a:t>
            </a:r>
            <a:br/>
            <a:r>
              <a:t>  * Finds a = (3, 3, 3) in R(s)!</a:t>
            </a:r>
            <a:br/>
            <a:r>
              <a:t>  * Since (3,3,3) &lt;= (4,3,3), g is PRUNED!</a:t>
            </a:r>
            <a:br/>
            <a:br/>
            <a:r>
              <a:t>Correctness preserved without scanning thousands of other nodes in C(s)!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IMPLEMENTATION ENGINEERING</a:t>
            </a:r>
          </a:p>
          <a:p>
            <a:pPr>
              <a:spcBef>
                <a:spcPts val="300"/>
              </a:spcBef>
              <a:defRPr sz="2100" b="1">
                <a:solidFill>
                  <a:srgbClr val="1E293B"/>
                </a:solidFill>
                <a:latin typeface="Segoe UI"/>
              </a:defRPr>
            </a:pPr>
            <a:r>
              <a:t>Fallback Index Architecture: The Logarithmic K-d Forest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How FallbackIndex&lt;D&gt; Operates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Append-Only Simplicity: insert(p) is a trivial O(1) push_back into a contiguous array of D-strided coordinates. No pointer allocation, no tree rebalancing on insert!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Lazy Indexing (Buffer = 64): Indexing is completely deferred. No tree is built until a query encounters &gt;= 64 unindexed points. States that never experience fallbacks pay zero tree construction overhead!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Bentley-Saxe Logarithmic Forest: Unindexed points are periodically converted into static, contiguous K-d trees. When a new block arrives, adjacent blocks of equal size are merged into a block of 2x capacity, forming a forest of O(log |R(s)|) static trees.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Leaf Capacity (LEAF = 8): Subtrees with &lt;= 8 points are leaves, scanned via fast contiguous SIMD loops.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2120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Subtree Box Rejection (lo_[mid])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The Bounding Box Filter: Each internal node stores lo_[mid], the componentwise minimum vector of all descendants in its subtree.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One-Comparison Rejection: When querying for a dominator p &lt;= q:</a:t>
            </a:r>
            <a:br/>
            <a:r>
              <a:t>  if Not (lo_[mid] &lt;= q): CONTINUE!</a:t>
            </a:r>
            <a:br/>
            <a:r>
              <a:t>If ANY coordinate of lo_[mid] exceeds q[k], it is mathematically impossible for ANY vector in that subtree to dominate q. The entire subtree is skipped!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Implicit Static Memory Layout: Points in each block are permuted in-place into K-d order (median at mid). No child pointers needed; children are implicitly addressed!</a:t>
            </a:r>
          </a:p>
          <a:p>
            <a:pPr>
              <a:spcBef>
                <a:spcPts val="600"/>
              </a:spcBef>
              <a:defRPr sz="1100">
                <a:solidFill>
                  <a:srgbClr val="475569"/>
                </a:solidFill>
              </a:defRPr>
            </a:pPr>
            <a:r>
              <a:t>The Result: Cuts full-D fallback comparisons from 59.3 Billion down to 1.6 Billion on massive instances (a 36x reduction)!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RESULTS &amp; CONCLUSIONS</a:t>
            </a:r>
          </a:p>
          <a:p>
            <a:pPr>
              <a:spcBef>
                <a:spcPts val="300"/>
              </a:spcBef>
              <a:defRPr sz="2100" b="1">
                <a:solidFill>
                  <a:srgbClr val="1E293B"/>
                </a:solidFill>
                <a:latin typeface="Segoe UI"/>
              </a:defRPr>
            </a:pPr>
            <a:r>
              <a:t>Empirical Validation &amp; Key Takeaways for Felner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463040"/>
                <a:gridCol w="1645920"/>
                <a:gridCol w="2011680"/>
                <a:gridCol w="2133295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Instance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 (M)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Pareto Sols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Maya 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FAST3 (Ours)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Speedup / Result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bay_800_5d (Road)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7,617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20.62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0.42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49.1x (Exact Match)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grid_n6_m8_rho-0.2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8D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47,079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112.50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1.61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69.9x (Exact Match)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bay_800_6d (Road)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6D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94,886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3,775.05 s (~1.05h)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7.63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494.8x (Exact Match)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grid_8x8_m8_rho-0.4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8D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366,205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8,552.90 s (~2.38h)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46.90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182.4x (Exact Match)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grid_8x8_m8_rho-0.2 (Case 12)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8D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1,082,326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35,013 s (Crashed/OOM)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408.39 s (~6.8m)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85.7x vs FAST1 (Exact)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4297680"/>
            <a:ext cx="3413455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434840"/>
            <a:ext cx="30476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Absolute Soundness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Every single run across 3D-8D is 100% bit-identical to Maya's baseline: exact same node expansions, same generations, byte-for-byte identical Pareto vectors.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4297680"/>
            <a:ext cx="3413455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434840"/>
            <a:ext cx="30476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2. Geometric Harmony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Combines adaptive (M-1) frontier trees with lazy D-dimensional residue trees, eliminating both the M=3 penalty and high-D fallback explosion.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4297680"/>
            <a:ext cx="3413455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4434840"/>
            <a:ext cx="30476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3. Ready for Deployment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Segoe UI"/>
              </a:defRPr>
            </a:pPr>
            <a:r>
              <a:t>Clean, modular C++20 architecture with zero external runtime dependencies. Fully validated and reproducible with deterministic harness scripts.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